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课程及个人信息按用户提供资料填写。背景来自用户参考PPT第1页。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场景插画：使用 OpenAI imagegen 为本项目生成，2026-10-23。仅表达输入长度与缓冲区需求变化，不表示真实硬件实验、实际分配器布局或逐包调用 malloc。接口与行为依据 https://man7.org/linux/man-pages/man3/malloc.3.html 。动态分配还可用于跨越局部变量作用域的对象生命周期，见后续第8页。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1987仅指Doug Lea开始编写自己的分配器。接口标准与具体实现为两条不同线索，不把1987解释为malloc的起源。</a:t>
            </a:r>
          </a:p>
          <a:p/>
          <a:p>
            <a:r>
              <a:t>来源：https://gee.cs.oswego.edu/dl/html/malloc.html</a:t>
            </a:r>
          </a:p>
          <a:p>
            <a:r>
              <a:t>来源：https://sourceware.org/glibc/manual/2.42/html_node/The-GNU-Allocator.html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分层图是职责关系的简化说明。应用调用库函数，分配器可能直接复用已管理空间，也可能需要向内核获得更多空间。</a:t>
            </a:r>
          </a:p>
          <a:p/>
          <a:p>
            <a:r>
              <a:t>来源：https://sourceware.org/glibc/manual/2.42/html_node/The-GNU-Allocator.html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来源：https://sourceware.org/glibc/manual/2.42/html_node/Basic-Allocation.html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来源：https://sourceware.org/glibc/manual/2.42/html_node/Basic-Allocation.html</a:t>
            </a:r>
          </a:p>
          <a:p>
            <a:r>
              <a:t>来源：https://cmu-sei.github.io/secure-coding-standards/sei-cert-c-coding-standard/rules/memory-management-mem/mem35-c/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右侧为同一分配对象在函数返回前后的两个状态视图，不是两次分配，也不是实际地址。成功时make_values返回4个已经初始化的int，调用者负责释放。</a:t>
            </a:r>
          </a:p>
          <a:p/>
          <a:p>
            <a:r>
              <a:t>来源：https://sourceware.org/glibc/manual/2.42/html_node/Memory-Allocation-and-C.html</a:t>
            </a:r>
          </a:p>
          <a:p>
            <a:r>
              <a:t>来源：https://cmu-sei.github.io/secure-coding-standards/sei-cert-c-coding-standard/rules/memory-management-mem/mem31-c/</a:t>
            </a:r>
          </a:p>
          <a:p>
            <a:r>
              <a:t>来源：https://sourceware.org/glibc/manual/2.42/html_node/Basic-Allocation.html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概念图只表达管理信息、应用可访问区与内部开销的区别。不代表glibc字段排列或实际比例，不提供虚构地址或开销字节数。</a:t>
            </a:r>
          </a:p>
          <a:p/>
          <a:p>
            <a:r>
              <a:t>来源：https://sourceware.org/glibc/manual/2.42/html_node/The-GNU-Allocator.html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四个分镜是同一个4元素int数组的状态视图，按第7页代码展开。问号表示未初始化，不是实际读取的结果。释放分镜的灰色和叉号表示应用访问失效，不表示原内存被自动清零或指针自动变为NULL。</a:t>
            </a:r>
          </a:p>
          <a:p/>
          <a:p>
            <a:r>
              <a:t>来源：https://sourceware.org/glibc/manual/2.42/html_node/Basic-Allocation.html</a:t>
            </a:r>
          </a:p>
          <a:p>
            <a:r>
              <a:t>来源：https://sourceware.org/glibc/manual/2.42/html_node/Freeing-after-Malloc.html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本页是分配路径的简化说明，不是glibc完整决策流程。分配器按大小、已有空间与配置等选择复用或扩展，brk和mmap是可能使用的方式，不表示每次malloc都会触发系统调用。</a:t>
            </a:r>
          </a:p>
          <a:p/>
          <a:p>
            <a:r>
              <a:t>来源：https://sourceware.org/glibc/manual/2.42/html_node/The-GNU-Allocator.html</a:t>
            </a:r>
          </a:p>
          <a:p>
            <a:r>
              <a:t>来源：https://man7.org/linux/man-pages/man2/brk.2.html</a:t>
            </a:r>
          </a:p>
          <a:p>
            <a:r>
              <a:t>来源：https://man7.org/linux/man-pages/man2/mmap.2.html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来源：https://sourceware.org/glibc/manual/2.42/html_node/Freeing-after-Malloc.html</a:t>
            </a:r>
          </a:p>
          <a:p>
            <a:r>
              <a:t>来源：https://cmu-sei.github.io/secure-coding-standards/sei-cert-c-coding-standard/rules/memory-management-mem/mem30-c/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固定区域的抽象教学模型，每段8单位。图中8单位宽288px，12单位请求宽432px，长度比例一致。忽略管理开销，不扩展区域或另开映射。并非真实glibc字节布局或分配失败实验。</a:t>
            </a:r>
          </a:p>
          <a:p/>
          <a:p>
            <a:r>
              <a:t>来源：https://gee.cs.oswego.edu/dl/html/malloc.html</a:t>
            </a:r>
          </a:p>
          <a:p>
            <a:r>
              <a:t>来源：https://sourceware.org/glibc/manual/2.42/html_node/The-GNU-Allocator.html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来源：https://sourceware.org/glibc/manual/2.42/html_node/Allocating-Cleared-Space.html</a:t>
            </a:r>
          </a:p>
          <a:p>
            <a:r>
              <a:t>来源：https://sourceware.org/glibc/manual/2.42/html_node/Changing-Block-Size.html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代码片段前提：p指向有效的已分配对象，new_n大于0且乘法已经检查不溢出。失败路径选择放弃本次任务，释放仍然有效的旧块后退出。</a:t>
            </a:r>
          </a:p>
          <a:p/>
          <a:p>
            <a:r>
              <a:t>来源：https://sourceware.org/glibc/manual/2.42/html_node/Changing-Block-Size.html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来源：https://cmu-sei.github.io/secure-coding-standards/sei-cert-c-coding-standard/rules/memory-management-mem/mem35-c/</a:t>
            </a:r>
          </a:p>
          <a:p>
            <a:r>
              <a:t>来源：https://sourceware.org/glibc/manual/2.42/html_node/Basic-Allocation.html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来源：https://cmu-sei.github.io/secure-coding-standards/sei-cert-c-coding-standard/rules/memory-management-mem/mem31-c/</a:t>
            </a:r>
          </a:p>
          <a:p>
            <a:r>
              <a:t>来源：https://cmu-sei.github.io/secure-coding-standards/sei-cert-c-coding-standard/rules/memory-management-mem/mem35-c/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来源：https://cmu-sei.github.io/secure-coding-standards/sei-cert-c-coding-standard/rules/memory-management-mem/mem30-c/</a:t>
            </a:r>
          </a:p>
          <a:p>
            <a:r>
              <a:t>来源：https://man7.org/linux/man-pages/man3/malloc.3.html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本页是基于分配器机制提出的工程设计建议，不是对某块开发板的性能测量，也不是实时性保证。是否采用内存池、预分配或特定分配器需结合目标环境验证。</a:t>
            </a:r>
          </a:p>
          <a:p/>
          <a:p>
            <a:r>
              <a:t>来源：https://sourceware.org/glibc/manual/2.42/html_node/The-GNU-Allocator.html</a:t>
            </a:r>
          </a:p>
          <a:p>
            <a:r>
              <a:t>来源：https://sourceware.org/glibc/manual/2.42/html_node/Basic-Allocation.html</a:t>
            </a:r>
          </a:p>
          <a:p>
            <a:r>
              <a:t>来源：https://sourceware.org/glibc/manual/2.42/html_node/Freeing-after-Malloc.html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来源：https://sourceware.org/glibc/manual/2.42/html_node/Memory-Allocation-and-C.html</a:t>
            </a:r>
          </a:p>
          <a:p>
            <a:r>
              <a:t>来源：https://sourceware.org/glibc/manual/2.42/html_node/The-GNU-Allocator.html</a:t>
            </a:r>
          </a:p>
          <a:p>
            <a:r>
              <a:t>来源：https://sourceware.org/glibc/manual/2.42/html_node/Basic-Allocation.html</a:t>
            </a:r>
          </a:p>
          <a:p>
            <a:r>
              <a:t>来源：https://sourceware.org/glibc/manual/2.42/html_node/Freeing-after-Malloc.html</a:t>
            </a:r>
          </a:p>
          <a:p>
            <a:r>
              <a:t>来源：https://cmu-sei.github.io/secure-coding-standards/sei-cert-c-coding-standard/rules/memory-management-mem/mem35-c/</a:t>
            </a:r>
          </a:p>
          <a:p>
            <a:r>
              <a:t>背景：用户提供的参考PPT第2页。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背景：用户提供的参考PPT第1页。课程内容的参考出处分别保留在对应页面备注中。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6.xml" Id="Rf049376732db4fb5" /><ns0:Relationship Type="http://schemas.openxmlformats.org/officeDocument/2006/relationships/image" Target="/ppt/media/image2.png" Id="Rf2472e3367154d3f" /><ns0:Relationship Type="http://schemas.openxmlformats.org/officeDocument/2006/relationships/image" Target="/ppt/media/submission-project-qr.png" Id="R640a47bf8ad2419e" /><ns0:Relationship Type="http://schemas.openxmlformats.org/officeDocument/2006/relationships/notesSlide" Target="../notesSlides/notesSlide2.xml" Id="R8cc53eb8fce9488c" /><ns0:Relationship Id="submissionLink5" Type="http://schemas.openxmlformats.org/officeDocument/2006/relationships/hyperlink" Target="https://mwhmwhyyds-eng.github.io/malloc-memory-lab/watch.html" TargetMode="External" /><ns0:Relationship Id="submissionLink6" Type="http://schemas.openxmlformats.org/officeDocument/2006/relationships/hyperlink" Target="https://mwhmwhyyds-eng.github.io/malloc-memory-lab/lab.html" TargetMode="External" /><ns0:Relationship Id="submissionLink7" Type="http://schemas.openxmlformats.org/officeDocument/2006/relationships/hyperlink" Target="https://github.com/mwhmwhyyds-eng/malloc-memory-lab" TargetMode="External" /><ns0:Relationship Id="submissionLink8" Type="http://schemas.openxmlformats.org/officeDocument/2006/relationships/hyperlink" Target="https://mwhmwhyyds-eng.github.io/malloc-memory-lab/" TargetMode="External" /></ns0:Relationships>
</file>

<file path=ppt/slides/_rels/slide3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6.xml" Id="Re027062eed15480f" /><ns0:Relationship Type="http://schemas.openxmlformats.org/officeDocument/2006/relationships/image" Target="/ppt/media/image2.png" Id="R1e598fe24908403a" /><ns0:Relationship Type="http://schemas.openxmlformats.org/officeDocument/2006/relationships/image" Target="/ppt/media/visual-v2-edf9add826e2c322.png" Id="R8c9c465ea67746e6" /><ns0:Relationship Type="http://schemas.openxmlformats.org/officeDocument/2006/relationships/notesSlide" Target="../notesSlides/notesSlide3.xml" Id="R2a139699f93a4e19" /></ns0: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png"/></Relationships>
</file>

<file path=ppt/slides/_rels/slide21.xml.rels><?xml version='1.0' encoding='utf-8'?>
<ns0:Relationships xmlns:ns0="http://schemas.openxmlformats.org/package/2006/relationships"><ns0:Relationship Type="http://schemas.openxmlformats.org/officeDocument/2006/relationships/slideLayout" Target="../slideLayouts/slideLayout6.xml" Id="Rd4946891bf5b4365" /><ns0:Relationship Type="http://schemas.openxmlformats.org/officeDocument/2006/relationships/image" Target="/ppt/media/image1.png" Id="R7c68587c102e46d8" /><ns0:Relationship Type="http://schemas.openxmlformats.org/officeDocument/2006/relationships/notesSlide" Target="../notesSlides/notesSlide21.xml" Id="Raa98bf32314e447c" /><ns0:Relationship Id="submissionLink4" Type="http://schemas.openxmlformats.org/officeDocument/2006/relationships/hyperlink" Target="https://mwhmwhyyds-eng.github.io/malloc-memory-lab/watch.html" TargetMode="External" /><ns0:Relationship Id="submissionLink5" Type="http://schemas.openxmlformats.org/officeDocument/2006/relationships/hyperlink" Target="https://mwhmwhyyds-eng.github.io/malloc-memory-lab/lab.html" TargetMode="External" /><ns0:Relationship Id="submissionLink6" Type="http://schemas.openxmlformats.org/officeDocument/2006/relationships/hyperlink" Target="https://github.com/mwhmwhyyds-eng/malloc-memory-lab" TargetMode="External" /></ns0: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嵌入式 Linux 系统"/>
          <p:cNvSpPr>
            <a:spLocks noGrp="1"/>
          </p:cNvSpPr>
          <p:nvPr/>
        </p:nvSpPr>
        <p:spPr>
          <a:xfrm>
            <a:off x="704850" y="571500"/>
            <a:ext cx="5715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</a:t>
            </a:r>
            <a:endParaRPr sz="1950" b="1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malloc 函数的前世今生"/>
          <p:cNvSpPr>
            <a:spLocks noGrp="1"/>
          </p:cNvSpPr>
          <p:nvPr/>
        </p:nvSpPr>
        <p:spPr>
          <a:xfrm>
            <a:off x="704850" y="1628775"/>
            <a:ext cx="7810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0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malloc 函数的前世今生</a:t>
            </a:r>
            <a:endParaRPr sz="300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一块内存的旅程"/>
          <p:cNvSpPr>
            <a:spLocks noGrp="1"/>
          </p:cNvSpPr>
          <p:nvPr/>
        </p:nvSpPr>
        <p:spPr>
          <a:xfrm>
            <a:off x="704850" y="2524125"/>
            <a:ext cx="82867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950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一块内存的旅程</a:t>
            </a:r>
            <a:endParaRPr sz="4950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动态内存分配的背景、机制与用法"/>
          <p:cNvSpPr>
            <a:spLocks noGrp="1"/>
          </p:cNvSpPr>
          <p:nvPr/>
        </p:nvSpPr>
        <p:spPr>
          <a:xfrm>
            <a:off x="704850" y="3648075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动态内存分配的背景、机制与用法</a:t>
            </a:r>
            <a:endParaRPr sz="217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何伟明"/>
          <p:cNvSpPr>
            <a:spLocks noGrp="1"/>
          </p:cNvSpPr>
          <p:nvPr/>
        </p:nvSpPr>
        <p:spPr>
          <a:xfrm>
            <a:off x="704850" y="5314950"/>
            <a:ext cx="4095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何伟明</a:t>
            </a:r>
            <a:endParaRPr sz="217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24电信4班   202434310409"/>
          <p:cNvSpPr>
            <a:spLocks noGrp="1"/>
          </p:cNvSpPr>
          <p:nvPr/>
        </p:nvSpPr>
        <p:spPr>
          <a:xfrm>
            <a:off x="704850" y="5772150"/>
            <a:ext cx="6286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24电信4班   202434310409</a:t>
            </a:r>
            <a:endParaRPr sz="16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2026.10.22"/>
          <p:cNvSpPr>
            <a:spLocks noGrp="1"/>
          </p:cNvSpPr>
          <p:nvPr/>
        </p:nvSpPr>
        <p:spPr>
          <a:xfrm>
            <a:off x="704850" y="62007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2026.10.22</a:t>
            </a:r>
            <a:endParaRPr sz="150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图片 1">
            <a:extLst>
              <a:ext uri="{FF2B5EF4-FFF2-40B4-BE49-F238E27FC236}">
                <ns2:creationId id="{F65871D8-0C30-4A7C-81A5-C7444C1F3042}"/>
              </a:ext>
            </a:extLst>
          </p:cNvPr>
          <p:cNvPicPr>
            <a:picLocks noChangeAspect="1"/>
          </p:cNvPicPr>
          <p:nvPr/>
        </p:nvPicPr>
        <p:blipFill>
          <a:blip r:embed="Rf2472e3367154d3f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ection">
            <a:extLst>
              <a:ext uri="{FF2B5EF4-FFF2-40B4-BE49-F238E27FC236}">
                <ns2:creationId id="{2CE5B4EE-8734-4CDD-95EE-8E330E10A16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rPr>
              <a:t>malloc 函数的前世今生</a:t>
            </a:r>
          </a:p>
        </p:txBody>
      </p:sp>
      <p:sp>
        <p:nvSpPr>
          <p:cNvPr id="4" name="title">
            <a:extLst>
              <a:ext uri="{FF2B5EF4-FFF2-40B4-BE49-F238E27FC236}">
                <ns2:creationId id="{B19F1351-FC39-4B4E-B03E-FA13C363D119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rPr>
              <a:t>作业导览</a:t>
            </a:r>
          </a:p>
        </p:txBody>
      </p:sp>
      <p:sp>
        <p:nvSpPr>
          <p:cNvPr id="5" name="three-formats">
            <a:extLst>
              <a:ext uri="{FF2B5EF4-FFF2-40B4-BE49-F238E27FC236}">
                <ns2:creationId id="{800B9784-7425-40B6-B7BF-D8F8D3269EF1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858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课程讲解 · 原理动画 · 交互创意案例</a:t>
            </a:r>
          </a:p>
        </p:txBody>
      </p:sp>
      <p:sp>
        <p:nvSpPr>
          <p:cNvPr id="6" name="number-0">
            <a:extLst>
              <a:ext uri="{FF2B5EF4-FFF2-40B4-BE49-F238E27FC236}">
                <ns2:creationId id="{14BE3D9F-B8BD-4E62-8DD5-32441D953900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952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7" name="heading-0">
            <a:extLst>
              <a:ext uri="{FF2B5EF4-FFF2-40B4-BE49-F238E27FC236}">
                <ns2:creationId id="{8AD560C2-80A8-4348-84F2-CC4BD5774588}"/>
              </a:ext>
            </a:extLst>
          </p:cNvPr>
          <p:cNvSpPr>
            <a:spLocks noGrp="1"/>
          </p:cNvSpPr>
          <p:nvPr/>
        </p:nvSpPr>
        <p:spPr>
          <a:xfrm>
            <a:off x="1809750" y="2133600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rPr>
              <a:t>课程讲解</a:t>
            </a:r>
          </a:p>
        </p:txBody>
      </p:sp>
      <p:sp>
        <p:nvSpPr>
          <p:cNvPr id="8" name="body-0">
            <a:extLst>
              <a:ext uri="{FF2B5EF4-FFF2-40B4-BE49-F238E27FC236}">
                <ns2:creationId id="{D7C28890-59CE-4918-B334-2843512F3059}"/>
              </a:ext>
            </a:extLst>
          </p:cNvPr>
          <p:cNvSpPr>
            <a:spLocks noGrp="1"/>
          </p:cNvSpPr>
          <p:nvPr/>
        </p:nvSpPr>
        <p:spPr>
          <a:xfrm>
            <a:off x="1809750" y="257175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背景与发展 · 分配机制 · 函数用法与注意事项</a:t>
            </a:r>
          </a:p>
        </p:txBody>
      </p:sp>
      <p:sp>
        <p:nvSpPr>
          <p:cNvPr id="9" name="number-1">
            <a:extLst>
              <a:ext uri="{FF2B5EF4-FFF2-40B4-BE49-F238E27FC236}">
                <ns2:creationId id="{C51FFA49-BFF8-441C-B9FF-A8903B0D1455}"/>
              </a:ext>
            </a:extLst>
          </p:cNvPr>
          <p:cNvSpPr>
            <a:spLocks noGrp="1"/>
          </p:cNvSpPr>
          <p:nvPr/>
        </p:nvSpPr>
        <p:spPr>
          <a:xfrm>
            <a:off x="609600" y="3181350"/>
            <a:ext cx="952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008C7D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0" name="heading-1">
            <a:extLst>
              <a:ext uri="{FF2B5EF4-FFF2-40B4-BE49-F238E27FC236}">
                <ns2:creationId id="{1BDA63A5-F7F0-4783-A338-FE125FA09219}"/>
              </a:ext>
            </a:extLst>
          </p:cNvPr>
          <p:cNvSpPr>
            <a:spLocks noGrp="1"/>
          </p:cNvSpPr>
          <p:nvPr/>
        </p:nvSpPr>
        <p:spPr>
          <a:xfrm>
            <a:off x="1809750" y="3200400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rPr>
              <a:t>malloc 原理动画</a:t>
            </a:r>
          </a:p>
        </p:txBody>
      </p:sp>
      <p:sp>
        <p:nvSpPr>
          <p:cNvPr id="11" name="body-1">
            <a:extLst>
              <a:ext uri="{FF2B5EF4-FFF2-40B4-BE49-F238E27FC236}">
                <ns2:creationId id="{74FCD965-3B3C-4DB5-B8B5-55E83E295455}"/>
              </a:ext>
            </a:extLst>
          </p:cNvPr>
          <p:cNvSpPr>
            <a:spLocks noGrp="1"/>
          </p:cNvSpPr>
          <p:nvPr/>
        </p:nvSpPr>
        <p:spPr>
          <a:xfrm>
            <a:off x="1809750" y="363855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中文旁白与中文字幕 · 约 2 分 36 秒</a:t>
            </a:r>
          </a:p>
        </p:txBody>
      </p:sp>
      <p:sp>
        <p:nvSpPr>
          <p:cNvPr id="12" name="link-video">
            <a:extLst>
              <a:ext uri="{FF2B5EF4-FFF2-40B4-BE49-F238E27FC236}">
                <ns2:creationId id="{5D88766D-3508-43CA-886A-EAE8434602D6}"/>
              </a:ext>
            </a:extLst>
            <a:hlinkClick r:id="submissionLink5"/>
          </p:cNvPr>
          <p:cNvSpPr>
            <a:spLocks noGrp="1"/>
          </p:cNvSpPr>
          <p:nvPr/>
        </p:nvSpPr>
        <p:spPr>
          <a:xfrm>
            <a:off x="1809750" y="4010025"/>
            <a:ext cx="97631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575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008C7D"/>
                </a:solidFill>
                <a:latin typeface="Consolas"/>
                <a:ea typeface="Consolas"/>
                <a:cs typeface="Consolas"/>
                <a:hlinkClick r:id="submissionLink5"/>
              </a:rPr>
              <a:t>https://mwhmwhyyds-eng.github.io/malloc-memory-lab/watch.html</a:t>
            </a:r>
          </a:p>
        </p:txBody>
      </p:sp>
      <p:sp>
        <p:nvSpPr>
          <p:cNvPr id="13" name="number-2">
            <a:extLst>
              <a:ext uri="{FF2B5EF4-FFF2-40B4-BE49-F238E27FC236}">
                <ns2:creationId id="{5249DB70-014B-48A4-BBC5-51303DD04941}"/>
              </a:ext>
            </a:extLst>
          </p:cNvPr>
          <p:cNvSpPr>
            <a:spLocks noGrp="1"/>
          </p:cNvSpPr>
          <p:nvPr/>
        </p:nvSpPr>
        <p:spPr>
          <a:xfrm>
            <a:off x="609600" y="4610100"/>
            <a:ext cx="952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defRPr>
            </a:pPr>
            <a:r>
              <a:rPr sz="3750" b="1">
                <a:solidFill>
                  <a:srgbClr val="DA704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4" name="heading-2">
            <a:extLst>
              <a:ext uri="{FF2B5EF4-FFF2-40B4-BE49-F238E27FC236}">
                <ns2:creationId id="{B447747E-A006-4620-8A95-076A355D578F}"/>
              </a:ext>
            </a:extLst>
          </p:cNvPr>
          <p:cNvSpPr>
            <a:spLocks noGrp="1"/>
          </p:cNvSpPr>
          <p:nvPr/>
        </p:nvSpPr>
        <p:spPr>
          <a:xfrm>
            <a:off x="1809750" y="4629150"/>
            <a:ext cx="7620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rPr>
              <a:t>内存旅程实验室</a:t>
            </a:r>
          </a:p>
        </p:txBody>
      </p:sp>
      <p:sp>
        <p:nvSpPr>
          <p:cNvPr id="15" name="body-2">
            <a:extLst>
              <a:ext uri="{FF2B5EF4-FFF2-40B4-BE49-F238E27FC236}">
                <ns2:creationId id="{ECF6E684-1CF7-48C4-929A-99BF670F8BDA}"/>
              </a:ext>
            </a:extLst>
          </p:cNvPr>
          <p:cNvSpPr>
            <a:spLocks noGrp="1"/>
          </p:cNvSpPr>
          <p:nvPr/>
        </p:nvSpPr>
        <p:spPr>
          <a:xfrm>
            <a:off x="1809750" y="5067300"/>
            <a:ext cx="95250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交互探索申请、初始化、读取与释放 · 附 C 源码</a:t>
            </a:r>
          </a:p>
        </p:txBody>
      </p:sp>
      <p:sp>
        <p:nvSpPr>
          <p:cNvPr id="16" name="link-lab">
            <a:extLst>
              <a:ext uri="{FF2B5EF4-FFF2-40B4-BE49-F238E27FC236}">
                <ns2:creationId id="{FA859B1E-815C-4D96-BC14-47E56151EB05}"/>
              </a:ext>
            </a:extLst>
            <a:hlinkClick r:id="submissionLink6"/>
          </p:cNvPr>
          <p:cNvSpPr>
            <a:spLocks noGrp="1"/>
          </p:cNvSpPr>
          <p:nvPr/>
        </p:nvSpPr>
        <p:spPr>
          <a:xfrm>
            <a:off x="1809750" y="5438775"/>
            <a:ext cx="97631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defPPr>
            <a:lvl1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1pPr>
            <a:lvl2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2pPr>
            <a:lvl3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3pPr>
            <a:lvl4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4pPr>
            <a:lvl5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5pPr>
            <a:lvl6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6pPr>
            <a:lvl7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7pPr>
            <a:lvl8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8pPr>
            <a:lvl9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575" b="0">
                <a:solidFill>
                  <a:srgbClr val="DA704B"/>
                </a:solidFill>
                <a:latin typeface="Consolas"/>
                <a:ea typeface="Consolas"/>
                <a:cs typeface="Consolas"/>
              </a:defRPr>
            </a:pPr>
            <a:r>
              <a:rPr sz="1575" b="0">
                <a:solidFill>
                  <a:srgbClr val="DA704B"/>
                </a:solidFill>
                <a:latin typeface="Consolas"/>
                <a:ea typeface="Consolas"/>
                <a:cs typeface="Consolas"/>
                <a:hlinkClick r:id="submissionLink6"/>
              </a:rPr>
              <a:t>https://mwhmwhyyds-eng.github.io/malloc-memory-lab/lab.html</a:t>
            </a:r>
          </a:p>
        </p:txBody>
      </p:sp>
      <p:sp>
        <p:nvSpPr>
          <p:cNvPr id="17" name="read-pages">
            <a:extLst>
              <a:ext uri="{FF2B5EF4-FFF2-40B4-BE49-F238E27FC236}">
                <ns2:creationId id="{95F54DAB-0B6F-40DD-8996-5CDBC5F616A7}"/>
              </a:ext>
            </a:extLst>
          </p:cNvPr>
          <p:cNvSpPr>
            <a:spLocks noGrp="1"/>
          </p:cNvSpPr>
          <p:nvPr/>
        </p:nvSpPr>
        <p:spPr>
          <a:xfrm>
            <a:off x="9096375" y="2190750"/>
            <a:ext cx="2524125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rPr>
              <a:t>本文件第 3—20 页</a:t>
            </a:r>
          </a:p>
        </p:txBody>
      </p:sp>
      <p:sp>
        <p:nvSpPr>
          <p:cNvPr id="18" name="link-source">
            <a:extLst>
              <a:ext uri="{FF2B5EF4-FFF2-40B4-BE49-F238E27FC236}">
                <ns2:creationId id="{BE2489E3-1657-4E1E-86AB-D2C82D48E2B7}"/>
              </a:ext>
            </a:extLst>
            <a:hlinkClick r:id="submissionLink7"/>
          </p:cNvPr>
          <p:cNvSpPr>
            <a:spLocks noGrp="1"/>
          </p:cNvSpPr>
          <p:nvPr/>
        </p:nvSpPr>
        <p:spPr>
          <a:xfrm>
            <a:off x="609600" y="600075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defPPr>
            <a:lvl1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1pPr>
            <a:lvl2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2pPr>
            <a:lvl3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3pPr>
            <a:lvl4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4pPr>
            <a:lvl5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5pPr>
            <a:lvl6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6pPr>
            <a:lvl7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7pPr>
            <a:lvl8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8pPr>
            <a:lvl9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425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6655CF"/>
                </a:solidFill>
                <a:latin typeface="Consolas"/>
                <a:ea typeface="Consolas"/>
                <a:cs typeface="Consolas"/>
                <a:hlinkClick r:id="submissionLink7"/>
              </a:rPr>
              <a:t>https://github.com/mwhmwhyyds-eng/malloc-memory-lab</a:t>
            </a:r>
          </a:p>
        </p:txBody>
      </p:sp>
      <p:pic>
        <p:nvPicPr>
          <p:cNvPr id="19" name="">
            <a:extLst>
              <a:ext uri="{FF2B5EF4-FFF2-40B4-BE49-F238E27FC236}">
                <ns2:creationId id="{7B6C55D5-EDA6-408E-ADB4-F552ACCB295F}"/>
              </a:ext>
            </a:extLst>
            <a:hlinkClick r:id="submissionLink8"/>
          </p:cNvPr>
          <p:cNvPicPr>
            <a:picLocks noChangeAspect="1"/>
          </p:cNvPicPr>
          <p:nvPr/>
        </p:nvPicPr>
        <p:blipFill>
          <a:blip r:embed="R640a47bf8ad2419e"/>
          <a:stretch/>
        </p:blipFill>
        <p:spPr>
          <a:xfrm>
            <a:off x="10325100" y="333375"/>
            <a:ext cx="1095375" cy="1095375"/>
          </a:xfrm>
          <a:prstGeom prst="rect">
            <a:avLst/>
          </a:prstGeom>
        </p:spPr>
      </p:pic>
      <p:sp>
        <p:nvSpPr>
          <p:cNvPr id="20" name="footer">
            <a:extLst>
              <a:ext uri="{FF2B5EF4-FFF2-40B4-BE49-F238E27FC236}">
                <ns2:creationId id="{68ADBABE-2D70-45D2-A895-3DA34D0C310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嵌入式 Linux 系统课程作业</a:t>
            </a:r>
          </a:p>
        </p:txBody>
      </p:sp>
      <p:sp>
        <p:nvSpPr>
          <p:cNvPr id="21" name="page">
            <a:extLst>
              <a:ext uri="{FF2B5EF4-FFF2-40B4-BE49-F238E27FC236}">
                <ns2:creationId id="{85AB3BBB-43EC-4625-A2A6-25CC6FA8C30A}"/>
              </a:ext>
            </a:extLst>
          </p:cNvPr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02 / 21</a:t>
            </a:r>
          </a:p>
        </p:txBody>
      </p:sp>
    </p:spTree>
    <p:extLst>
      <p:ext uri="{BB962C8B-B14F-4D97-AF65-F5344CB8AC3E}">
        <ns4:creationId val="1015419342"/>
      </p:ext>
    </p:extLst>
  </p:cSld>
</p:sld>
</file>

<file path=ppt/slides/slide3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图片 1">
            <a:extLst>
              <a:ext uri="{FF2B5EF4-FFF2-40B4-BE49-F238E27FC236}">
                <ns2:creationId id="{3C198202-FAB4-4D01-9FA7-B01BA22EEC57}"/>
              </a:ext>
            </a:extLst>
          </p:cNvPr>
          <p:cNvPicPr>
            <a:picLocks noChangeAspect="1"/>
          </p:cNvPicPr>
          <p:nvPr/>
        </p:nvPicPr>
        <p:blipFill>
          <a:blip r:embed="R1e598fe24908403a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section">
            <a:extLst>
              <a:ext uri="{FF2B5EF4-FFF2-40B4-BE49-F238E27FC236}">
                <ns2:creationId id="{48438509-2390-403A-892C-35C62D74E2E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rPr>
              <a:t>01  背景与发展</a:t>
            </a:r>
          </a:p>
        </p:txBody>
      </p:sp>
      <p:sp>
        <p:nvSpPr>
          <p:cNvPr id="4" name="title">
            <a:extLst>
              <a:ext uri="{FF2B5EF4-FFF2-40B4-BE49-F238E27FC236}">
                <ns2:creationId id="{739DCF6B-1E17-47E9-9A99-4B1359210F9D}"/>
              </a:ext>
            </a:extLst>
          </p:cNvPr>
          <p:cNvSpPr>
            <a:spLocks noGrp="1"/>
          </p:cNvSpPr>
          <p:nvPr/>
        </p:nvSpPr>
        <p:spPr>
          <a:xfrm>
            <a:off x="609600" y="895350"/>
            <a:ext cx="1085850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pPr>
            <a:r>
              <a:rPr sz="3225" b="1">
                <a:solidFill>
                  <a:srgbClr val="172641"/>
                </a:solidFill>
                <a:latin typeface="微软雅黑"/>
                <a:ea typeface="微软雅黑"/>
                <a:cs typeface="微软雅黑"/>
              </a:rPr>
              <a:t>动态内存分配解决什么问题</a:t>
            </a:r>
          </a:p>
        </p:txBody>
      </p:sp>
      <p:sp>
        <p:nvSpPr>
          <p:cNvPr id="5" name="claim">
            <a:extLst>
              <a:ext uri="{FF2B5EF4-FFF2-40B4-BE49-F238E27FC236}">
                <ns2:creationId id="{2844A478-1393-4DF6-A3A4-8E8F7E72020E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10858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6655CF"/>
                </a:solidFill>
                <a:latin typeface="微软雅黑"/>
                <a:ea typeface="微软雅黑"/>
                <a:cs typeface="微软雅黑"/>
              </a:rPr>
              <a:t>数据规模可能在运行时才确定</a:t>
            </a:r>
          </a:p>
        </p:txBody>
      </p:sp>
      <p:sp>
        <p:nvSpPr>
          <p:cNvPr id="6" name="fixed-heading">
            <a:extLst>
              <a:ext uri="{FF2B5EF4-FFF2-40B4-BE49-F238E27FC236}">
                <ns2:creationId id="{0BCB40CB-44C7-496C-A624-1DA58F74C6CE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6655CF"/>
                </a:solidFill>
                <a:latin typeface="微软雅黑"/>
                <a:ea typeface="微软雅黑"/>
                <a:cs typeface="微软雅黑"/>
              </a:rPr>
              <a:t>普通定长数组</a:t>
            </a:r>
          </a:p>
        </p:txBody>
      </p:sp>
      <p:sp>
        <p:nvSpPr>
          <p:cNvPr id="7" name="fixed-code">
            <a:extLst>
              <a:ext uri="{FF2B5EF4-FFF2-40B4-BE49-F238E27FC236}">
                <ns2:creationId id="{95FC9C22-09C8-4983-BBC4-706742F2FE36}"/>
              </a:ext>
            </a:extLst>
          </p:cNvPr>
          <p:cNvSpPr>
            <a:spLocks noGrp="1"/>
          </p:cNvSpPr>
          <p:nvPr/>
        </p:nvSpPr>
        <p:spPr>
          <a:xfrm>
            <a:off x="609600" y="2933700"/>
            <a:ext cx="4762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defPPr>
            <a:lvl1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1pPr>
            <a:lvl2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2pPr>
            <a:lvl3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3pPr>
            <a:lvl4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4pPr>
            <a:lvl5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5pPr>
            <a:lvl6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6pPr>
            <a:lvl7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7pPr>
            <a:lvl8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8pPr>
            <a:lvl9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875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72641"/>
                </a:solidFill>
                <a:latin typeface="Consolas"/>
                <a:ea typeface="Consolas"/>
                <a:cs typeface="Consolas"/>
              </a:rPr>
              <a:t>int a[100];</a:t>
            </a:r>
          </a:p>
        </p:txBody>
      </p:sp>
      <p:sp>
        <p:nvSpPr>
          <p:cNvPr id="8" name="fixed-desc">
            <a:extLst>
              <a:ext uri="{FF2B5EF4-FFF2-40B4-BE49-F238E27FC236}">
                <ns2:creationId id="{AB65C916-6CE0-4052-9B9D-AAA282EE612B}"/>
              </a:ext>
            </a:extLst>
          </p:cNvPr>
          <p:cNvSpPr>
            <a:spLocks noGrp="1"/>
          </p:cNvSpPr>
          <p:nvPr/>
        </p:nvSpPr>
        <p:spPr>
          <a:xfrm>
            <a:off x="609600" y="3371850"/>
            <a:ext cx="476250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这一声明的元素数量固定为 100。</a:t>
            </a:r>
          </a:p>
          <a:p>
            <a: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输入变大可能不够用，较小时又有空余。</a:t>
            </a:r>
          </a:p>
        </p:txBody>
      </p:sp>
      <p:sp>
        <p:nvSpPr>
          <p:cNvPr id="9" name="dynamic-heading">
            <a:extLst>
              <a:ext uri="{FF2B5EF4-FFF2-40B4-BE49-F238E27FC236}">
                <ns2:creationId id="{08FF971B-C2FF-475A-86A3-4FA3D74460AF}"/>
              </a:ext>
            </a:extLst>
          </p:cNvPr>
          <p:cNvSpPr>
            <a:spLocks noGrp="1"/>
          </p:cNvSpPr>
          <p:nvPr/>
        </p:nvSpPr>
        <p:spPr>
          <a:xfrm>
            <a:off x="609600" y="4305300"/>
            <a:ext cx="4762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rPr>
              <a:t>动态申请</a:t>
            </a:r>
          </a:p>
        </p:txBody>
      </p:sp>
      <p:sp>
        <p:nvSpPr>
          <p:cNvPr id="10" name="dynamic-code">
            <a:extLst>
              <a:ext uri="{FF2B5EF4-FFF2-40B4-BE49-F238E27FC236}">
                <ns2:creationId id="{879BE28E-28EB-4745-AA19-7FA02015B681}"/>
              </a:ext>
            </a:extLst>
          </p:cNvPr>
          <p:cNvSpPr>
            <a:spLocks noGrp="1"/>
          </p:cNvSpPr>
          <p:nvPr/>
        </p:nvSpPr>
        <p:spPr>
          <a:xfrm>
            <a:off x="609600" y="476250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defPPr>
            <a:lvl1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1pPr>
            <a:lvl2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2pPr>
            <a:lvl3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3pPr>
            <a:lvl4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4pPr>
            <a:lvl5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5pPr>
            <a:lvl6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6pPr>
            <a:lvl7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7pPr>
            <a:lvl8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8pPr>
            <a:lvl9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650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pPr>
            <a:r>
              <a:rPr sz="1650" b="0">
                <a:solidFill>
                  <a:srgbClr val="008C7D"/>
                </a:solidFill>
                <a:latin typeface="Consolas"/>
                <a:ea typeface="Consolas"/>
                <a:cs typeface="Consolas"/>
              </a:rPr>
              <a:t>int *p = malloc(n * sizeof *p);</a:t>
            </a:r>
          </a:p>
        </p:txBody>
      </p:sp>
      <p:sp>
        <p:nvSpPr>
          <p:cNvPr id="11" name="dynamic-desc">
            <a:extLst>
              <a:ext uri="{FF2B5EF4-FFF2-40B4-BE49-F238E27FC236}">
                <ns2:creationId id="{2C986134-5D07-48A0-B268-F5A6768F60B0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48577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根据运行时的 n 确定申请规模。</a:t>
            </a:r>
          </a:p>
          <a:p>
            <a:pPr>
              <a:def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仍需检查大小与失败，并在使用后释放。</a:t>
            </a:r>
          </a:p>
        </p:txBody>
      </p:sp>
      <p:pic>
        <p:nvPicPr>
          <p:cNvPr id="12" name="">
            <a:extLst>
              <a:ext uri="{FF2B5EF4-FFF2-40B4-BE49-F238E27FC236}">
                <ns2:creationId id="{416D5558-D0EF-46AD-B7A6-703AB4F9F0CD}"/>
              </a:ext>
            </a:extLst>
          </p:cNvPr>
          <p:cNvPicPr>
            <a:picLocks noChangeAspect="1"/>
          </p:cNvPicPr>
          <p:nvPr/>
        </p:nvPicPr>
        <p:blipFill>
          <a:blip r:embed="R8c9c465ea67746e6"/>
          <a:stretch/>
        </p:blipFill>
        <p:spPr>
          <a:xfrm>
            <a:off x="5715000" y="2286308"/>
            <a:ext cx="5905500" cy="3323610"/>
          </a:xfrm>
          <a:prstGeom prst="rect">
            <a:avLst/>
          </a:prstGeom>
        </p:spPr>
      </p:pic>
      <p:sp>
        <p:nvSpPr>
          <p:cNvPr id="13" name="image-note">
            <a:extLst>
              <a:ext uri="{FF2B5EF4-FFF2-40B4-BE49-F238E27FC236}">
                <ns2:creationId id="{0D5F103F-109D-41B1-A917-8685A410D2EE}"/>
              </a:ext>
            </a:extLst>
          </p:cNvPr>
          <p:cNvSpPr>
            <a:spLocks noGrp="1"/>
          </p:cNvSpPr>
          <p:nvPr/>
        </p:nvSpPr>
        <p:spPr>
          <a:xfrm>
            <a:off x="6076950" y="5667375"/>
            <a:ext cx="5429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08C7D"/>
                </a:solidFill>
                <a:latin typeface="微软雅黑"/>
                <a:ea typeface="微软雅黑"/>
                <a:cs typeface="微软雅黑"/>
              </a:rPr>
              <a:t>不同长度的数据，需要不同大小的缓冲区</a:t>
            </a:r>
          </a:p>
        </p:txBody>
      </p:sp>
      <p:sp>
        <p:nvSpPr>
          <p:cNvPr id="14" name="image-disclosure">
            <a:extLst>
              <a:ext uri="{FF2B5EF4-FFF2-40B4-BE49-F238E27FC236}">
                <ns2:creationId id="{A58377F0-55F0-4AF7-83BB-DA4847B2EF97}"/>
              </a:ext>
            </a:extLst>
          </p:cNvPr>
          <p:cNvSpPr>
            <a:spLocks noGrp="1"/>
          </p:cNvSpPr>
          <p:nvPr/>
        </p:nvSpPr>
        <p:spPr>
          <a:xfrm>
            <a:off x="6076950" y="6010275"/>
            <a:ext cx="5429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AI 场景示意，非实际硬件或分配器布局</a:t>
            </a:r>
          </a:p>
        </p:txBody>
      </p:sp>
      <p:sp>
        <p:nvSpPr>
          <p:cNvPr id="15" name="footer">
            <a:extLst>
              <a:ext uri="{FF2B5EF4-FFF2-40B4-BE49-F238E27FC236}">
                <ns2:creationId id="{A2FD2D5E-C56F-4C92-9178-4B2B42058DFA}"/>
              </a:ext>
            </a:extLst>
          </p:cNvPr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嵌入式 Linux 系统课程作业</a:t>
            </a:r>
          </a:p>
        </p:txBody>
      </p:sp>
      <p:sp>
        <p:nvSpPr>
          <p:cNvPr id="16" name="page">
            <a:extLst>
              <a:ext uri="{FF2B5EF4-FFF2-40B4-BE49-F238E27FC236}">
                <ns2:creationId id="{CA5C7C44-5E1F-41AD-BC34-904DEB326ADD}"/>
              </a:ext>
            </a:extLst>
          </p:cNvPr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03 / 21</a:t>
            </a:r>
          </a:p>
        </p:txBody>
      </p:sp>
    </p:spTree>
    <p:extLst>
      <p:ext uri="{BB962C8B-B14F-4D97-AF65-F5344CB8AC3E}">
        <ns4:creationId val="1785522040"/>
      </p:ext>
    </p:extLst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1 背景与发展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背景与发展</a:t>
            </a:r>
            <a:endParaRPr sz="142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接口标准化与分配器实现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接口标准化与分配器实现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04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接口规定怎样调用，分配器决定内部怎样管理内存。"/>
          <p:cNvSpPr>
            <a:spLocks noGrp="1"/>
          </p:cNvSpPr>
          <p:nvPr/>
        </p:nvSpPr>
        <p:spPr>
          <a:xfrm>
            <a:off x="609600" y="1743075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接口规定怎样调用，分配器决定内部怎样管理内存。</a:t>
            </a:r>
            <a:endParaRPr sz="20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标准接口"/>
          <p:cNvSpPr>
            <a:spLocks noGrp="1"/>
          </p:cNvSpPr>
          <p:nvPr/>
        </p:nvSpPr>
        <p:spPr>
          <a:xfrm>
            <a:off x="609600" y="2466975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标准接口</a:t>
            </a:r>
            <a:endParaRPr sz="225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C89"/>
          <p:cNvSpPr>
            <a:spLocks noGrp="1"/>
          </p:cNvSpPr>
          <p:nvPr/>
        </p:nvSpPr>
        <p:spPr>
          <a:xfrm>
            <a:off x="3238500" y="2466975"/>
            <a:ext cx="1905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7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C89</a:t>
            </a:r>
            <a:endParaRPr sz="2775" b="1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机制图连接箭头"/>
          <p:cNvSpPr>
            <a:spLocks noGrp="1"/>
          </p:cNvSpPr>
          <p:nvPr/>
        </p:nvSpPr>
        <p:spPr>
          <a:xfrm>
            <a:off x="5172075" y="2628900"/>
            <a:ext cx="790575" cy="180975"/>
          </a:xfrm>
          <a:prstGeom prst="rightArrow">
            <a:avLst/>
          </a:prstGeom>
          <a:solidFill>
            <a:srgbClr val="6655CF"/>
          </a:solidFill>
          <a:ln w="0">
            <a:noFill/>
          </a:ln>
        </p:spPr>
      </p:sp>
      <p:sp>
        <p:nvSpPr>
          <p:cNvPr id="11" name="malloc / free"/>
          <p:cNvSpPr>
            <a:spLocks noGrp="1"/>
          </p:cNvSpPr>
          <p:nvPr/>
        </p:nvSpPr>
        <p:spPr>
          <a:xfrm>
            <a:off x="6334125" y="2390775"/>
            <a:ext cx="500062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550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malloc / free</a:t>
            </a:r>
            <a:endParaRPr sz="2550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规定参数、返回值与使用约定"/>
          <p:cNvSpPr>
            <a:spLocks noGrp="1"/>
          </p:cNvSpPr>
          <p:nvPr/>
        </p:nvSpPr>
        <p:spPr>
          <a:xfrm>
            <a:off x="6334125" y="2971800"/>
            <a:ext cx="5000625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规定参数、返回值与使用约定</a:t>
            </a:r>
            <a:endParaRPr sz="187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实现演进"/>
          <p:cNvSpPr>
            <a:spLocks noGrp="1"/>
          </p:cNvSpPr>
          <p:nvPr/>
        </p:nvSpPr>
        <p:spPr>
          <a:xfrm>
            <a:off x="609600" y="3943350"/>
            <a:ext cx="2286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实现演进</a:t>
            </a:r>
            <a:endParaRPr sz="225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dlmalloc"/>
          <p:cNvSpPr>
            <a:spLocks noGrp="1"/>
          </p:cNvSpPr>
          <p:nvPr/>
        </p:nvSpPr>
        <p:spPr>
          <a:xfrm>
            <a:off x="3238500" y="3914775"/>
            <a:ext cx="22860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dlmalloc</a:t>
            </a:r>
            <a:endParaRPr sz="2400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1987 年开始编写"/>
          <p:cNvSpPr>
            <a:spLocks noGrp="1"/>
          </p:cNvSpPr>
          <p:nvPr/>
        </p:nvSpPr>
        <p:spPr>
          <a:xfrm>
            <a:off x="3238500" y="4514850"/>
            <a:ext cx="23812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1987 年开始编写</a:t>
            </a:r>
            <a:endParaRPr sz="172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机制图连接箭头"/>
          <p:cNvSpPr>
            <a:spLocks noGrp="1"/>
          </p:cNvSpPr>
          <p:nvPr/>
        </p:nvSpPr>
        <p:spPr>
          <a:xfrm>
            <a:off x="5524500" y="4067175"/>
            <a:ext cx="523875" cy="161925"/>
          </a:xfrm>
          <a:prstGeom prst="rightArrow">
            <a:avLst/>
          </a:prstGeom>
          <a:solidFill>
            <a:srgbClr val="63728A"/>
          </a:solidFill>
          <a:ln w="0">
            <a:noFill/>
          </a:ln>
        </p:spPr>
      </p:sp>
      <p:sp>
        <p:nvSpPr>
          <p:cNvPr id="17" name="ptmalloc"/>
          <p:cNvSpPr>
            <a:spLocks noGrp="1"/>
          </p:cNvSpPr>
          <p:nvPr/>
        </p:nvSpPr>
        <p:spPr>
          <a:xfrm>
            <a:off x="6334125" y="3914775"/>
            <a:ext cx="22860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ptmalloc</a:t>
            </a:r>
            <a:endParaRPr sz="2400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源自 dlmalloc"/>
          <p:cNvSpPr>
            <a:spLocks noGrp="1"/>
          </p:cNvSpPr>
          <p:nvPr/>
        </p:nvSpPr>
        <p:spPr>
          <a:xfrm>
            <a:off x="6334125" y="4514850"/>
            <a:ext cx="23812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源自 dlmalloc</a:t>
            </a:r>
            <a:endParaRPr sz="172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机制图连接箭头"/>
          <p:cNvSpPr>
            <a:spLocks noGrp="1"/>
          </p:cNvSpPr>
          <p:nvPr/>
        </p:nvSpPr>
        <p:spPr>
          <a:xfrm>
            <a:off x="8620125" y="4067175"/>
            <a:ext cx="523875" cy="161925"/>
          </a:xfrm>
          <a:prstGeom prst="rightArrow">
            <a:avLst/>
          </a:prstGeom>
          <a:solidFill>
            <a:srgbClr val="63728A"/>
          </a:solidFill>
          <a:ln w="0">
            <a:noFill/>
          </a:ln>
        </p:spPr>
      </p:sp>
      <p:sp>
        <p:nvSpPr>
          <p:cNvPr id="20" name="glibc"/>
          <p:cNvSpPr>
            <a:spLocks noGrp="1"/>
          </p:cNvSpPr>
          <p:nvPr/>
        </p:nvSpPr>
        <p:spPr>
          <a:xfrm>
            <a:off x="9429750" y="3914775"/>
            <a:ext cx="22860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40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glibc</a:t>
            </a:r>
            <a:endParaRPr sz="2400" b="1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1" name="源自 ptmalloc"/>
          <p:cNvSpPr>
            <a:spLocks noGrp="1"/>
          </p:cNvSpPr>
          <p:nvPr/>
        </p:nvSpPr>
        <p:spPr>
          <a:xfrm>
            <a:off x="9429750" y="4514850"/>
            <a:ext cx="2381250" cy="647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源自 ptmalloc</a:t>
            </a:r>
            <a:endParaRPr sz="172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1987 是 dlmalloc 的编写起点。下文内部机制以 glib"/>
          <p:cNvSpPr>
            <a:spLocks noGrp="1"/>
          </p:cNvSpPr>
          <p:nvPr/>
        </p:nvSpPr>
        <p:spPr>
          <a:xfrm>
            <a:off x="609600" y="5686425"/>
            <a:ext cx="10972800" cy="5810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1987 是 dlmalloc 的编写起点。下文内部机制以 glibc 为例。</a:t>
            </a:r>
            <a:endParaRPr sz="187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1 背景与发展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背景与发展</a:t>
            </a:r>
            <a:endParaRPr sz="142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应用、分配器与 Linux 内核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应用、分配器与 Linux 内核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05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层次 应用程序"/>
          <p:cNvSpPr>
            <a:spLocks noGrp="1"/>
          </p:cNvSpPr>
          <p:nvPr/>
        </p:nvSpPr>
        <p:spPr>
          <a:xfrm>
            <a:off x="609600" y="2095500"/>
            <a:ext cx="2857500" cy="2152650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8" name="应用程序"/>
          <p:cNvSpPr>
            <a:spLocks noGrp="1"/>
          </p:cNvSpPr>
          <p:nvPr/>
        </p:nvSpPr>
        <p:spPr>
          <a:xfrm>
            <a:off x="800100" y="230505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endParaRPr sz="225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层次 C 库分配器"/>
          <p:cNvSpPr>
            <a:spLocks noGrp="1"/>
          </p:cNvSpPr>
          <p:nvPr/>
        </p:nvSpPr>
        <p:spPr>
          <a:xfrm>
            <a:off x="4667250" y="2095500"/>
            <a:ext cx="2857500" cy="2152650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0" name="C 库分配器"/>
          <p:cNvSpPr>
            <a:spLocks noGrp="1"/>
          </p:cNvSpPr>
          <p:nvPr/>
        </p:nvSpPr>
        <p:spPr>
          <a:xfrm>
            <a:off x="4857750" y="230505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库分配器</a:t>
            </a:r>
            <a:endParaRPr sz="225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层次 Linux 内核"/>
          <p:cNvSpPr>
            <a:spLocks noGrp="1"/>
          </p:cNvSpPr>
          <p:nvPr/>
        </p:nvSpPr>
        <p:spPr>
          <a:xfrm>
            <a:off x="8724900" y="2095500"/>
            <a:ext cx="2857500" cy="2152650"/>
          </a:xfrm>
          <a:prstGeom prst="rect">
            <a:avLst/>
          </a:prstGeom>
          <a:solidFill>
            <a:srgbClr val="FBEEE6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2" name="Linux 内核"/>
          <p:cNvSpPr>
            <a:spLocks noGrp="1"/>
          </p:cNvSpPr>
          <p:nvPr/>
        </p:nvSpPr>
        <p:spPr>
          <a:xfrm>
            <a:off x="8915400" y="2305050"/>
            <a:ext cx="247650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 内核</a:t>
            </a:r>
            <a:endParaRPr sz="225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malloc(size)"/>
          <p:cNvSpPr>
            <a:spLocks noGrp="1"/>
          </p:cNvSpPr>
          <p:nvPr/>
        </p:nvSpPr>
        <p:spPr>
          <a:xfrm>
            <a:off x="800100" y="3048000"/>
            <a:ext cx="24288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malloc(size)</a:t>
            </a:r>
            <a:endParaRPr sz="1950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free(p)"/>
          <p:cNvSpPr>
            <a:spLocks noGrp="1"/>
          </p:cNvSpPr>
          <p:nvPr/>
        </p:nvSpPr>
        <p:spPr>
          <a:xfrm>
            <a:off x="800100" y="3514725"/>
            <a:ext cx="242887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950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free(p)</a:t>
            </a:r>
            <a:endParaRPr sz="1950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管理内存块&#10;选择可复用空间"/>
          <p:cNvSpPr>
            <a:spLocks noGrp="1"/>
          </p:cNvSpPr>
          <p:nvPr/>
        </p:nvSpPr>
        <p:spPr>
          <a:xfrm>
            <a:off x="4857750" y="3028950"/>
            <a:ext cx="2476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管理内存块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选择可复用空间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brk / mmap"/>
          <p:cNvSpPr>
            <a:spLocks noGrp="1"/>
          </p:cNvSpPr>
          <p:nvPr/>
        </p:nvSpPr>
        <p:spPr>
          <a:xfrm>
            <a:off x="8915400" y="3048000"/>
            <a:ext cx="2476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brk / mmap</a:t>
            </a:r>
            <a:endParaRPr sz="1875" b="0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munmap"/>
          <p:cNvSpPr>
            <a:spLocks noGrp="1"/>
          </p:cNvSpPr>
          <p:nvPr/>
        </p:nvSpPr>
        <p:spPr>
          <a:xfrm>
            <a:off x="8915400" y="3514725"/>
            <a:ext cx="2476500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munmap</a:t>
            </a:r>
            <a:endParaRPr sz="1875" b="0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调用库接口"/>
          <p:cNvSpPr>
            <a:spLocks noGrp="1"/>
          </p:cNvSpPr>
          <p:nvPr/>
        </p:nvSpPr>
        <p:spPr>
          <a:xfrm>
            <a:off x="3476625" y="2371725"/>
            <a:ext cx="1181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调用库接口</a:t>
            </a:r>
            <a:endParaRPr sz="1500" b="0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机制图连接箭头"/>
          <p:cNvSpPr>
            <a:spLocks noGrp="1"/>
          </p:cNvSpPr>
          <p:nvPr/>
        </p:nvSpPr>
        <p:spPr>
          <a:xfrm>
            <a:off x="3676650" y="2990850"/>
            <a:ext cx="762000" cy="200025"/>
          </a:xfrm>
          <a:prstGeom prst="rightArrow">
            <a:avLst/>
          </a:prstGeom>
          <a:solidFill>
            <a:srgbClr val="6655CF"/>
          </a:solidFill>
          <a:ln w="0">
            <a:noFill/>
          </a:ln>
        </p:spPr>
      </p:sp>
      <p:sp>
        <p:nvSpPr>
          <p:cNvPr id="20" name="需要扩展时"/>
          <p:cNvSpPr>
            <a:spLocks noGrp="1"/>
          </p:cNvSpPr>
          <p:nvPr/>
        </p:nvSpPr>
        <p:spPr>
          <a:xfrm>
            <a:off x="7534275" y="2371725"/>
            <a:ext cx="11811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需要扩展时</a:t>
            </a:r>
            <a:endParaRPr sz="1500" b="0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机制图连接箭头"/>
          <p:cNvSpPr>
            <a:spLocks noGrp="1"/>
          </p:cNvSpPr>
          <p:nvPr/>
        </p:nvSpPr>
        <p:spPr>
          <a:xfrm>
            <a:off x="7734300" y="2990850"/>
            <a:ext cx="762000" cy="200025"/>
          </a:xfrm>
          <a:prstGeom prst="rightArrow">
            <a:avLst/>
          </a:prstGeom>
          <a:solidFill>
            <a:srgbClr val="DA704B"/>
          </a:solidFill>
          <a:ln w="0">
            <a:noFill/>
          </a:ln>
        </p:spPr>
      </p:sp>
      <p:sp>
        <p:nvSpPr>
          <p:cNvPr id="22" name="已有空间可用"/>
          <p:cNvSpPr>
            <a:spLocks noGrp="1"/>
          </p:cNvSpPr>
          <p:nvPr/>
        </p:nvSpPr>
        <p:spPr>
          <a:xfrm>
            <a:off x="609600" y="4762500"/>
            <a:ext cx="49530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已有空间可用</a:t>
            </a:r>
            <a:endParaRPr sz="225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分配器直接复用内存块，&#10;这次 malloc 可能无需系统调用。"/>
          <p:cNvSpPr>
            <a:spLocks noGrp="1"/>
          </p:cNvSpPr>
          <p:nvPr/>
        </p:nvSpPr>
        <p:spPr>
          <a:xfrm>
            <a:off x="609600" y="5314950"/>
            <a:ext cx="51435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分配器直接复用内存块，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这次 malloc 可能无需系统调用。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需要更多空间"/>
          <p:cNvSpPr>
            <a:spLocks noGrp="1"/>
          </p:cNvSpPr>
          <p:nvPr/>
        </p:nvSpPr>
        <p:spPr>
          <a:xfrm>
            <a:off x="6343650" y="4762500"/>
            <a:ext cx="50482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需要更多空间</a:t>
            </a:r>
            <a:endParaRPr sz="225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分配器可借助内核扩展&#10;进程虚拟地址空间。"/>
          <p:cNvSpPr>
            <a:spLocks noGrp="1"/>
          </p:cNvSpPr>
          <p:nvPr/>
        </p:nvSpPr>
        <p:spPr>
          <a:xfrm>
            <a:off x="6343650" y="5314950"/>
            <a:ext cx="504825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分配器可借助内核扩展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进程虚拟地址空间。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2 机制与内存旅程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机制与内存旅程</a:t>
            </a:r>
            <a:endParaRPr sz="14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malloc 的接口与返回值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malloc 的接口与返回值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06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#include &lt;stdlib.h&gt;"/>
          <p:cNvSpPr>
            <a:spLocks noGrp="1"/>
          </p:cNvSpPr>
          <p:nvPr/>
        </p:nvSpPr>
        <p:spPr>
          <a:xfrm>
            <a:off x="609600" y="1952625"/>
            <a:ext cx="7048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#include &lt;stdlib.h&gt;</a:t>
            </a:r>
            <a:endParaRPr sz="2175" b="0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352675"/>
            <a:ext cx="7048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175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/>
        </p:txBody>
      </p:sp>
      <p:sp>
        <p:nvSpPr>
          <p:cNvPr id="9" name="void *malloc(size_t size);"/>
          <p:cNvSpPr>
            <a:spLocks noGrp="1"/>
          </p:cNvSpPr>
          <p:nvPr/>
        </p:nvSpPr>
        <p:spPr>
          <a:xfrm>
            <a:off x="609600" y="2752725"/>
            <a:ext cx="7048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void *malloc(size_t size);</a:t>
            </a:r>
            <a:endParaRPr sz="2175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size"/>
          <p:cNvSpPr>
            <a:spLocks noGrp="1"/>
          </p:cNvSpPr>
          <p:nvPr/>
        </p:nvSpPr>
        <p:spPr>
          <a:xfrm>
            <a:off x="609600" y="3667125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</a:t>
            </a:r>
            <a:endParaRPr sz="217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所需字节数，类型为 size_t。"/>
          <p:cNvSpPr>
            <a:spLocks noGrp="1"/>
          </p:cNvSpPr>
          <p:nvPr/>
        </p:nvSpPr>
        <p:spPr>
          <a:xfrm>
            <a:off x="2095500" y="3676650"/>
            <a:ext cx="5619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所需字节数，类型为 size_t。</a:t>
            </a:r>
            <a:endParaRPr sz="20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返回值"/>
          <p:cNvSpPr>
            <a:spLocks noGrp="1"/>
          </p:cNvSpPr>
          <p:nvPr/>
        </p:nvSpPr>
        <p:spPr>
          <a:xfrm>
            <a:off x="609600" y="4295775"/>
            <a:ext cx="128587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返回值</a:t>
            </a:r>
            <a:endParaRPr sz="217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成功时返回指针，失败时返回 NULL。"/>
          <p:cNvSpPr>
            <a:spLocks noGrp="1"/>
          </p:cNvSpPr>
          <p:nvPr/>
        </p:nvSpPr>
        <p:spPr>
          <a:xfrm>
            <a:off x="2095500" y="4295775"/>
            <a:ext cx="56197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成功时返回指针，失败时返回 NULL。</a:t>
            </a:r>
            <a:endParaRPr sz="20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申请之后"/>
          <p:cNvSpPr>
            <a:spLocks noGrp="1"/>
          </p:cNvSpPr>
          <p:nvPr/>
        </p:nvSpPr>
        <p:spPr>
          <a:xfrm>
            <a:off x="8315325" y="1943100"/>
            <a:ext cx="29527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申请之后</a:t>
            </a:r>
            <a:endParaRPr sz="225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检查是否成功&#10;&#10;先初始化，再读取&#10;&#10;最后调用 free"/>
          <p:cNvSpPr>
            <a:spLocks noGrp="1"/>
          </p:cNvSpPr>
          <p:nvPr/>
        </p:nvSpPr>
        <p:spPr>
          <a:xfrm>
            <a:off x="8315325" y="2676525"/>
            <a:ext cx="3190875" cy="2257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检查是否成功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950"/>
          </a:p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先初始化，再读取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sz="1950"/>
          </a:p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最后调用 free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malloc 不会初始化所分配的内存，读取前应先写入有效数据。"/>
          <p:cNvSpPr>
            <a:spLocks noGrp="1"/>
          </p:cNvSpPr>
          <p:nvPr/>
        </p:nvSpPr>
        <p:spPr>
          <a:xfrm>
            <a:off x="609600" y="56864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malloc 不会初始化所分配的内存，读取前应先写入有效数据。</a:t>
            </a:r>
            <a:endParaRPr sz="180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2 机制与内存旅程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机制与内存旅程</a:t>
            </a:r>
            <a:endParaRPr sz="14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一次正确的申请与释放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一次正确的申请与释放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07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字底色"/>
          <p:cNvSpPr>
            <a:spLocks noGrp="1"/>
          </p:cNvSpPr>
          <p:nvPr/>
        </p:nvSpPr>
        <p:spPr>
          <a:xfrm>
            <a:off x="609600" y="1866900"/>
            <a:ext cx="7239000" cy="3876675"/>
          </a:xfrm>
          <a:prstGeom prst="rect">
            <a:avLst/>
          </a:prstGeom>
          <a:solidFill>
            <a:srgbClr val="E8F4F0"/>
          </a:solidFill>
          <a:ln w="0">
            <a:noFill/>
          </a:ln>
        </p:spPr>
      </p:sp>
      <p:sp>
        <p:nvSpPr>
          <p:cNvPr id="8" name="#include &lt;stdio.h&gt;"/>
          <p:cNvSpPr>
            <a:spLocks noGrp="1"/>
          </p:cNvSpPr>
          <p:nvPr/>
        </p:nvSpPr>
        <p:spPr>
          <a:xfrm>
            <a:off x="781050" y="202882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#include &lt;stdio.h&gt;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#include &lt;stdlib.h&gt;"/>
          <p:cNvSpPr>
            <a:spLocks noGrp="1"/>
          </p:cNvSpPr>
          <p:nvPr/>
        </p:nvSpPr>
        <p:spPr>
          <a:xfrm>
            <a:off x="781050" y="2343150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#include &lt;stdlib.h&gt;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int main(void) {"/>
          <p:cNvSpPr>
            <a:spLocks noGrp="1"/>
          </p:cNvSpPr>
          <p:nvPr/>
        </p:nvSpPr>
        <p:spPr>
          <a:xfrm>
            <a:off x="781050" y="265747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main(void) {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    int *p = malloc(4 * sizeof *p)"/>
          <p:cNvSpPr>
            <a:spLocks noGrp="1"/>
          </p:cNvSpPr>
          <p:nvPr/>
        </p:nvSpPr>
        <p:spPr>
          <a:xfrm>
            <a:off x="781050" y="2971800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int *p = malloc(4 * sizeof *p);</a:t>
            </a:r>
            <a:endParaRPr sz="1725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    if (p == NULL) return EXIT_FAI"/>
          <p:cNvSpPr>
            <a:spLocks noGrp="1"/>
          </p:cNvSpPr>
          <p:nvPr/>
        </p:nvSpPr>
        <p:spPr>
          <a:xfrm>
            <a:off x="781050" y="328612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(p == NULL) return EXIT_FAILURE;</a:t>
            </a:r>
            <a:endParaRPr sz="17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    for (int i = 0; i &lt; 4; ++i)"/>
          <p:cNvSpPr>
            <a:spLocks noGrp="1"/>
          </p:cNvSpPr>
          <p:nvPr/>
        </p:nvSpPr>
        <p:spPr>
          <a:xfrm>
            <a:off x="781050" y="3600450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for (int i = 0; i &lt; 4; ++i)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        p[i] = i + 1;"/>
          <p:cNvSpPr>
            <a:spLocks noGrp="1"/>
          </p:cNvSpPr>
          <p:nvPr/>
        </p:nvSpPr>
        <p:spPr>
          <a:xfrm>
            <a:off x="781050" y="391477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p[i] = i + 1;</a:t>
            </a:r>
            <a:endParaRPr sz="1725" b="1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    printf(&quot;%d\n&quot;, p[3]);"/>
          <p:cNvSpPr>
            <a:spLocks noGrp="1"/>
          </p:cNvSpPr>
          <p:nvPr/>
        </p:nvSpPr>
        <p:spPr>
          <a:xfrm>
            <a:off x="781050" y="4229100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printf("%d\n", p[3]);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    free(p);"/>
          <p:cNvSpPr>
            <a:spLocks noGrp="1"/>
          </p:cNvSpPr>
          <p:nvPr/>
        </p:nvSpPr>
        <p:spPr>
          <a:xfrm>
            <a:off x="781050" y="454342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free(p);</a:t>
            </a:r>
            <a:endParaRPr sz="17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    return EXIT_SUCCESS;"/>
          <p:cNvSpPr>
            <a:spLocks noGrp="1"/>
          </p:cNvSpPr>
          <p:nvPr/>
        </p:nvSpPr>
        <p:spPr>
          <a:xfrm>
            <a:off x="781050" y="4857750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EXIT_SUCCESS;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8" name="}"/>
          <p:cNvSpPr>
            <a:spLocks noGrp="1"/>
          </p:cNvSpPr>
          <p:nvPr/>
        </p:nvSpPr>
        <p:spPr>
          <a:xfrm>
            <a:off x="781050" y="517207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01"/>
          <p:cNvSpPr>
            <a:spLocks noGrp="1"/>
          </p:cNvSpPr>
          <p:nvPr/>
        </p:nvSpPr>
        <p:spPr>
          <a:xfrm>
            <a:off x="8162925" y="2066925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</a:t>
            </a:r>
            <a:endParaRPr sz="247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申请 4 个 int 的空间"/>
          <p:cNvSpPr>
            <a:spLocks noGrp="1"/>
          </p:cNvSpPr>
          <p:nvPr/>
        </p:nvSpPr>
        <p:spPr>
          <a:xfrm>
            <a:off x="8848725" y="2085975"/>
            <a:ext cx="266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 4 个 int 的空间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02"/>
          <p:cNvSpPr>
            <a:spLocks noGrp="1"/>
          </p:cNvSpPr>
          <p:nvPr/>
        </p:nvSpPr>
        <p:spPr>
          <a:xfrm>
            <a:off x="8162925" y="2905125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247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失败时停止使用指针"/>
          <p:cNvSpPr>
            <a:spLocks noGrp="1"/>
          </p:cNvSpPr>
          <p:nvPr/>
        </p:nvSpPr>
        <p:spPr>
          <a:xfrm>
            <a:off x="8848725" y="2924175"/>
            <a:ext cx="266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失败时停止使用指针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03"/>
          <p:cNvSpPr>
            <a:spLocks noGrp="1"/>
          </p:cNvSpPr>
          <p:nvPr/>
        </p:nvSpPr>
        <p:spPr>
          <a:xfrm>
            <a:off x="8162925" y="3743325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247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初始化后再读取 p[3]"/>
          <p:cNvSpPr>
            <a:spLocks noGrp="1"/>
          </p:cNvSpPr>
          <p:nvPr/>
        </p:nvSpPr>
        <p:spPr>
          <a:xfrm>
            <a:off x="8848725" y="3762375"/>
            <a:ext cx="266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初始化后再读取 p[3]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04"/>
          <p:cNvSpPr>
            <a:spLocks noGrp="1"/>
          </p:cNvSpPr>
          <p:nvPr/>
        </p:nvSpPr>
        <p:spPr>
          <a:xfrm>
            <a:off x="8162925" y="4581525"/>
            <a:ext cx="6667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247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使用结束后释放"/>
          <p:cNvSpPr>
            <a:spLocks noGrp="1"/>
          </p:cNvSpPr>
          <p:nvPr/>
        </p:nvSpPr>
        <p:spPr>
          <a:xfrm>
            <a:off x="8848725" y="4600575"/>
            <a:ext cx="26670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使用结束后释放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C 语言中，malloc 返回的 void * 可直接赋给对象指针，"/>
          <p:cNvSpPr>
            <a:spLocks noGrp="1"/>
          </p:cNvSpPr>
          <p:nvPr/>
        </p:nvSpPr>
        <p:spPr>
          <a:xfrm>
            <a:off x="609600" y="5819775"/>
            <a:ext cx="10858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 语言中，malloc 返回的 void * 可直接赋给对象指针，无需强制类型转换。</a:t>
            </a:r>
            <a:endParaRPr sz="17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2 机制与内存旅程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机制与内存旅程</a:t>
            </a:r>
            <a:endParaRPr sz="14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指针变量与内存对象的生命周期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指针变量与内存对象的生命周期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08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字底色"/>
          <p:cNvSpPr>
            <a:spLocks noGrp="1"/>
          </p:cNvSpPr>
          <p:nvPr/>
        </p:nvSpPr>
        <p:spPr>
          <a:xfrm>
            <a:off x="609600" y="2000250"/>
            <a:ext cx="5905500" cy="2800350"/>
          </a:xfrm>
          <a:prstGeom prst="rect">
            <a:avLst/>
          </a:prstGeom>
          <a:solidFill>
            <a:srgbClr val="F0EDFA"/>
          </a:solidFill>
          <a:ln w="0">
            <a:noFill/>
          </a:ln>
        </p:spPr>
      </p:sp>
      <p:sp>
        <p:nvSpPr>
          <p:cNvPr id="8" name="int *make_values(void) {"/>
          <p:cNvSpPr>
            <a:spLocks noGrp="1"/>
          </p:cNvSpPr>
          <p:nvPr/>
        </p:nvSpPr>
        <p:spPr>
          <a:xfrm>
            <a:off x="781050" y="2200275"/>
            <a:ext cx="55911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*make_values(void) {</a:t>
            </a:r>
            <a:endParaRPr sz="1650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    int *p = malloc(4 * sizeof *p)"/>
          <p:cNvSpPr>
            <a:spLocks noGrp="1"/>
          </p:cNvSpPr>
          <p:nvPr/>
        </p:nvSpPr>
        <p:spPr>
          <a:xfrm>
            <a:off x="781050" y="2533650"/>
            <a:ext cx="55911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int *p = malloc(4 * sizeof *p);</a:t>
            </a:r>
            <a:endParaRPr sz="1650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    if (p != NULL)"/>
          <p:cNvSpPr>
            <a:spLocks noGrp="1"/>
          </p:cNvSpPr>
          <p:nvPr/>
        </p:nvSpPr>
        <p:spPr>
          <a:xfrm>
            <a:off x="781050" y="2867025"/>
            <a:ext cx="55911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(p != NULL)</a:t>
            </a:r>
            <a:endParaRPr sz="1650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        for (int i = 0; i &lt; 4; ++i"/>
          <p:cNvSpPr>
            <a:spLocks noGrp="1"/>
          </p:cNvSpPr>
          <p:nvPr/>
        </p:nvSpPr>
        <p:spPr>
          <a:xfrm>
            <a:off x="781050" y="3200400"/>
            <a:ext cx="55911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for (int i = 0; i &lt; 4; ++i)</a:t>
            </a:r>
            <a:endParaRPr sz="1650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            p[i] = i + 1;"/>
          <p:cNvSpPr>
            <a:spLocks noGrp="1"/>
          </p:cNvSpPr>
          <p:nvPr/>
        </p:nvSpPr>
        <p:spPr>
          <a:xfrm>
            <a:off x="781050" y="3533775"/>
            <a:ext cx="55911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    p[i] = i + 1;</a:t>
            </a:r>
            <a:endParaRPr sz="1650" b="1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    return p;"/>
          <p:cNvSpPr>
            <a:spLocks noGrp="1"/>
          </p:cNvSpPr>
          <p:nvPr/>
        </p:nvSpPr>
        <p:spPr>
          <a:xfrm>
            <a:off x="781050" y="3867150"/>
            <a:ext cx="55911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p;</a:t>
            </a:r>
            <a:endParaRPr sz="1650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}"/>
          <p:cNvSpPr>
            <a:spLocks noGrp="1"/>
          </p:cNvSpPr>
          <p:nvPr/>
        </p:nvSpPr>
        <p:spPr>
          <a:xfrm>
            <a:off x="781050" y="4200525"/>
            <a:ext cx="55911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650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650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int *q = make_values();"/>
          <p:cNvSpPr>
            <a:spLocks noGrp="1"/>
          </p:cNvSpPr>
          <p:nvPr/>
        </p:nvSpPr>
        <p:spPr>
          <a:xfrm>
            <a:off x="609600" y="5162550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*q = make_values();</a:t>
            </a:r>
            <a:endParaRPr sz="187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if (q != NULL) free(q);"/>
          <p:cNvSpPr>
            <a:spLocks noGrp="1"/>
          </p:cNvSpPr>
          <p:nvPr/>
        </p:nvSpPr>
        <p:spPr>
          <a:xfrm>
            <a:off x="609600" y="5543550"/>
            <a:ext cx="5953125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87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(q != NULL) free(q);</a:t>
            </a:r>
            <a:endParaRPr sz="187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7" name="函数返回前"/>
          <p:cNvSpPr>
            <a:spLocks noGrp="1"/>
          </p:cNvSpPr>
          <p:nvPr/>
        </p:nvSpPr>
        <p:spPr>
          <a:xfrm>
            <a:off x="7000875" y="1895475"/>
            <a:ext cx="4381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函数返回前</a:t>
            </a:r>
            <a:endParaRPr sz="195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局部指针变量p"/>
          <p:cNvSpPr>
            <a:spLocks noGrp="1"/>
          </p:cNvSpPr>
          <p:nvPr/>
        </p:nvSpPr>
        <p:spPr>
          <a:xfrm>
            <a:off x="7000875" y="2476500"/>
            <a:ext cx="904875" cy="619125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9" name="p"/>
          <p:cNvSpPr>
            <a:spLocks noGrp="1"/>
          </p:cNvSpPr>
          <p:nvPr/>
        </p:nvSpPr>
        <p:spPr>
          <a:xfrm>
            <a:off x="7000875" y="2600325"/>
            <a:ext cx="904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3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</a:t>
            </a:r>
            <a:endParaRPr sz="2325" b="1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机制图连接箭头"/>
          <p:cNvSpPr>
            <a:spLocks noGrp="1"/>
          </p:cNvSpPr>
          <p:nvPr/>
        </p:nvSpPr>
        <p:spPr>
          <a:xfrm>
            <a:off x="8048625" y="2695575"/>
            <a:ext cx="600075" cy="161925"/>
          </a:xfrm>
          <a:prstGeom prst="rightArrow">
            <a:avLst/>
          </a:prstGeom>
          <a:solidFill>
            <a:srgbClr val="6655CF"/>
          </a:solidFill>
          <a:ln w="0">
            <a:noFill/>
          </a:ln>
        </p:spPr>
      </p:sp>
      <p:sp>
        <p:nvSpPr>
          <p:cNvPr id="21" name="内存元素 0"/>
          <p:cNvSpPr>
            <a:spLocks noGrp="1"/>
          </p:cNvSpPr>
          <p:nvPr/>
        </p:nvSpPr>
        <p:spPr>
          <a:xfrm>
            <a:off x="8858250" y="2476500"/>
            <a:ext cx="647700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2" name="1"/>
          <p:cNvSpPr>
            <a:spLocks noGrp="1"/>
          </p:cNvSpPr>
          <p:nvPr/>
        </p:nvSpPr>
        <p:spPr>
          <a:xfrm>
            <a:off x="8858250" y="26193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3" name="内存元素 1"/>
          <p:cNvSpPr>
            <a:spLocks noGrp="1"/>
          </p:cNvSpPr>
          <p:nvPr/>
        </p:nvSpPr>
        <p:spPr>
          <a:xfrm>
            <a:off x="9505950" y="2476500"/>
            <a:ext cx="647700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4" name="2"/>
          <p:cNvSpPr>
            <a:spLocks noGrp="1"/>
          </p:cNvSpPr>
          <p:nvPr/>
        </p:nvSpPr>
        <p:spPr>
          <a:xfrm>
            <a:off x="9505950" y="26193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5" name="内存元素 2"/>
          <p:cNvSpPr>
            <a:spLocks noGrp="1"/>
          </p:cNvSpPr>
          <p:nvPr/>
        </p:nvSpPr>
        <p:spPr>
          <a:xfrm>
            <a:off x="10153650" y="2476500"/>
            <a:ext cx="647700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6" name="3"/>
          <p:cNvSpPr>
            <a:spLocks noGrp="1"/>
          </p:cNvSpPr>
          <p:nvPr/>
        </p:nvSpPr>
        <p:spPr>
          <a:xfrm>
            <a:off x="10153650" y="26193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内存元素 3"/>
          <p:cNvSpPr>
            <a:spLocks noGrp="1"/>
          </p:cNvSpPr>
          <p:nvPr/>
        </p:nvSpPr>
        <p:spPr>
          <a:xfrm>
            <a:off x="10801350" y="2476500"/>
            <a:ext cx="647700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8" name="4"/>
          <p:cNvSpPr>
            <a:spLocks noGrp="1"/>
          </p:cNvSpPr>
          <p:nvPr/>
        </p:nvSpPr>
        <p:spPr>
          <a:xfrm>
            <a:off x="10801350" y="2619375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9" name="同一分配对象"/>
          <p:cNvSpPr>
            <a:spLocks noGrp="1"/>
          </p:cNvSpPr>
          <p:nvPr/>
        </p:nvSpPr>
        <p:spPr>
          <a:xfrm>
            <a:off x="8858250" y="3352800"/>
            <a:ext cx="2590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同一分配对象</a:t>
            </a:r>
            <a:endParaRPr sz="1650" b="0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函数返回后"/>
          <p:cNvSpPr>
            <a:spLocks noGrp="1"/>
          </p:cNvSpPr>
          <p:nvPr/>
        </p:nvSpPr>
        <p:spPr>
          <a:xfrm>
            <a:off x="7000875" y="3857625"/>
            <a:ext cx="438150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函数返回后</a:t>
            </a:r>
            <a:endParaRPr sz="195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调用者指针变量q"/>
          <p:cNvSpPr>
            <a:spLocks noGrp="1"/>
          </p:cNvSpPr>
          <p:nvPr/>
        </p:nvSpPr>
        <p:spPr>
          <a:xfrm>
            <a:off x="7000875" y="4448175"/>
            <a:ext cx="904875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2" name="q"/>
          <p:cNvSpPr>
            <a:spLocks noGrp="1"/>
          </p:cNvSpPr>
          <p:nvPr/>
        </p:nvSpPr>
        <p:spPr>
          <a:xfrm>
            <a:off x="7000875" y="4572000"/>
            <a:ext cx="904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3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q</a:t>
            </a:r>
            <a:endParaRPr sz="2325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3" name="机制图连接箭头"/>
          <p:cNvSpPr>
            <a:spLocks noGrp="1"/>
          </p:cNvSpPr>
          <p:nvPr/>
        </p:nvSpPr>
        <p:spPr>
          <a:xfrm>
            <a:off x="8048625" y="4667250"/>
            <a:ext cx="600075" cy="161925"/>
          </a:xfrm>
          <a:prstGeom prst="rightArrow">
            <a:avLst/>
          </a:prstGeom>
          <a:solidFill>
            <a:srgbClr val="008C7D"/>
          </a:solidFill>
          <a:ln w="0">
            <a:noFill/>
          </a:ln>
        </p:spPr>
      </p:sp>
      <p:sp>
        <p:nvSpPr>
          <p:cNvPr id="34" name="内存元素 0"/>
          <p:cNvSpPr>
            <a:spLocks noGrp="1"/>
          </p:cNvSpPr>
          <p:nvPr/>
        </p:nvSpPr>
        <p:spPr>
          <a:xfrm>
            <a:off x="8858250" y="4448175"/>
            <a:ext cx="647700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5" name="1"/>
          <p:cNvSpPr>
            <a:spLocks noGrp="1"/>
          </p:cNvSpPr>
          <p:nvPr/>
        </p:nvSpPr>
        <p:spPr>
          <a:xfrm>
            <a:off x="8858250" y="459105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内存元素 1"/>
          <p:cNvSpPr>
            <a:spLocks noGrp="1"/>
          </p:cNvSpPr>
          <p:nvPr/>
        </p:nvSpPr>
        <p:spPr>
          <a:xfrm>
            <a:off x="9505950" y="4448175"/>
            <a:ext cx="647700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7" name="2"/>
          <p:cNvSpPr>
            <a:spLocks noGrp="1"/>
          </p:cNvSpPr>
          <p:nvPr/>
        </p:nvSpPr>
        <p:spPr>
          <a:xfrm>
            <a:off x="9505950" y="459105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内存元素 2"/>
          <p:cNvSpPr>
            <a:spLocks noGrp="1"/>
          </p:cNvSpPr>
          <p:nvPr/>
        </p:nvSpPr>
        <p:spPr>
          <a:xfrm>
            <a:off x="10153650" y="4448175"/>
            <a:ext cx="647700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9" name="3"/>
          <p:cNvSpPr>
            <a:spLocks noGrp="1"/>
          </p:cNvSpPr>
          <p:nvPr/>
        </p:nvSpPr>
        <p:spPr>
          <a:xfrm>
            <a:off x="10153650" y="459105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0" name="内存元素 3"/>
          <p:cNvSpPr>
            <a:spLocks noGrp="1"/>
          </p:cNvSpPr>
          <p:nvPr/>
        </p:nvSpPr>
        <p:spPr>
          <a:xfrm>
            <a:off x="10801350" y="4448175"/>
            <a:ext cx="647700" cy="61912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41" name="4"/>
          <p:cNvSpPr>
            <a:spLocks noGrp="1"/>
          </p:cNvSpPr>
          <p:nvPr/>
        </p:nvSpPr>
        <p:spPr>
          <a:xfrm>
            <a:off x="10801350" y="4591050"/>
            <a:ext cx="6477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" name="局部 p 已结束，q 接续持有指针值。&#10;分配对象持续存在，直到 fr"/>
          <p:cNvSpPr>
            <a:spLocks noGrp="1"/>
          </p:cNvSpPr>
          <p:nvPr/>
        </p:nvSpPr>
        <p:spPr>
          <a:xfrm>
            <a:off x="7000875" y="5362575"/>
            <a:ext cx="4572000" cy="771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 p 已结束，q 接续持有指针值。</a:t>
            </a:r>
            <a:endParaRPr sz="180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分配对象持续存在，直到 free(q)。</a:t>
            </a:r>
            <a:endParaRPr sz="180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2 机制与内存旅程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机制与内存旅程</a:t>
            </a:r>
            <a:endParaRPr sz="14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分配器如何管理内存块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分配器如何管理内存块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09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概念示意，不代表 glibc 字段排列，也不按真实比例绘制。"/>
          <p:cNvSpPr>
            <a:spLocks noGrp="1"/>
          </p:cNvSpPr>
          <p:nvPr/>
        </p:nvSpPr>
        <p:spPr>
          <a:xfrm>
            <a:off x="609600" y="1714500"/>
            <a:ext cx="10953750" cy="371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概念示意，不代表 glibc 字段排列，也不按真实比例绘制。</a:t>
            </a:r>
            <a:endParaRPr sz="172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chunk（内存块）"/>
          <p:cNvSpPr>
            <a:spLocks noGrp="1"/>
          </p:cNvSpPr>
          <p:nvPr/>
        </p:nvSpPr>
        <p:spPr>
          <a:xfrm>
            <a:off x="609600" y="2247900"/>
            <a:ext cx="25717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chunk（内存块）</a:t>
            </a:r>
            <a:endParaRPr sz="217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p：返回指针"/>
          <p:cNvSpPr>
            <a:spLocks noGrp="1"/>
          </p:cNvSpPr>
          <p:nvPr/>
        </p:nvSpPr>
        <p:spPr>
          <a:xfrm>
            <a:off x="3467100" y="2219325"/>
            <a:ext cx="4000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p：返回指针</a:t>
            </a:r>
            <a:endParaRPr sz="187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机制图连接箭头"/>
          <p:cNvSpPr>
            <a:spLocks noGrp="1"/>
          </p:cNvSpPr>
          <p:nvPr/>
        </p:nvSpPr>
        <p:spPr>
          <a:xfrm>
            <a:off x="3371850" y="2657475"/>
            <a:ext cx="190500" cy="352425"/>
          </a:xfrm>
          <a:prstGeom prst="downArrow">
            <a:avLst/>
          </a:prstGeom>
          <a:solidFill>
            <a:srgbClr val="008C7D"/>
          </a:solidFill>
          <a:ln w="0">
            <a:noFill/>
          </a:ln>
        </p:spPr>
      </p:sp>
      <p:sp>
        <p:nvSpPr>
          <p:cNvPr id="11" name="分配器管理信息"/>
          <p:cNvSpPr>
            <a:spLocks noGrp="1"/>
          </p:cNvSpPr>
          <p:nvPr/>
        </p:nvSpPr>
        <p:spPr>
          <a:xfrm>
            <a:off x="609600" y="3067050"/>
            <a:ext cx="2857500" cy="1066800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2" name="管理信息"/>
          <p:cNvSpPr>
            <a:spLocks noGrp="1"/>
          </p:cNvSpPr>
          <p:nvPr/>
        </p:nvSpPr>
        <p:spPr>
          <a:xfrm>
            <a:off x="800100" y="328612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管理信息</a:t>
            </a:r>
            <a:endParaRPr sz="217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大小、状态等"/>
          <p:cNvSpPr>
            <a:spLocks noGrp="1"/>
          </p:cNvSpPr>
          <p:nvPr/>
        </p:nvSpPr>
        <p:spPr>
          <a:xfrm>
            <a:off x="800100" y="3714750"/>
            <a:ext cx="2476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大小、状态等</a:t>
            </a:r>
            <a:endParaRPr sz="172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应用可访问区域"/>
          <p:cNvSpPr>
            <a:spLocks noGrp="1"/>
          </p:cNvSpPr>
          <p:nvPr/>
        </p:nvSpPr>
        <p:spPr>
          <a:xfrm>
            <a:off x="3467100" y="3067050"/>
            <a:ext cx="5715000" cy="1066800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5" name="应用可访问区域"/>
          <p:cNvSpPr>
            <a:spLocks noGrp="1"/>
          </p:cNvSpPr>
          <p:nvPr/>
        </p:nvSpPr>
        <p:spPr>
          <a:xfrm>
            <a:off x="3705225" y="3286125"/>
            <a:ext cx="5238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应用可访问区域</a:t>
            </a:r>
            <a:endParaRPr sz="217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从 p 开始，请求的 size 字节"/>
          <p:cNvSpPr>
            <a:spLocks noGrp="1"/>
          </p:cNvSpPr>
          <p:nvPr/>
        </p:nvSpPr>
        <p:spPr>
          <a:xfrm>
            <a:off x="3705225" y="3714750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 p 开始，请求的 size 字节</a:t>
            </a:r>
            <a:endParaRPr sz="17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对齐和管理产生的空间"/>
          <p:cNvSpPr>
            <a:spLocks noGrp="1"/>
          </p:cNvSpPr>
          <p:nvPr/>
        </p:nvSpPr>
        <p:spPr>
          <a:xfrm>
            <a:off x="9182100" y="3067050"/>
            <a:ext cx="2400300" cy="1066800"/>
          </a:xfrm>
          <a:prstGeom prst="rect">
            <a:avLst/>
          </a:prstGeom>
          <a:solidFill>
            <a:srgbClr val="FBEEE6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8" name="内部开销"/>
          <p:cNvSpPr>
            <a:spLocks noGrp="1"/>
          </p:cNvSpPr>
          <p:nvPr/>
        </p:nvSpPr>
        <p:spPr>
          <a:xfrm>
            <a:off x="9363075" y="3286125"/>
            <a:ext cx="20383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内部开销</a:t>
            </a:r>
            <a:endParaRPr sz="217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依实现与请求而异"/>
          <p:cNvSpPr>
            <a:spLocks noGrp="1"/>
          </p:cNvSpPr>
          <p:nvPr/>
        </p:nvSpPr>
        <p:spPr>
          <a:xfrm>
            <a:off x="9363075" y="3714750"/>
            <a:ext cx="2038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依实现与请求而异</a:t>
            </a:r>
            <a:endParaRPr sz="16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访问边界"/>
          <p:cNvSpPr>
            <a:spLocks noGrp="1"/>
          </p:cNvSpPr>
          <p:nvPr/>
        </p:nvSpPr>
        <p:spPr>
          <a:xfrm>
            <a:off x="609600" y="467677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访问边界</a:t>
            </a:r>
            <a:endParaRPr sz="225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应用按请求大小访问，不能越界读写管理信息或其他空间。"/>
          <p:cNvSpPr>
            <a:spLocks noGrp="1"/>
          </p:cNvSpPr>
          <p:nvPr/>
        </p:nvSpPr>
        <p:spPr>
          <a:xfrm>
            <a:off x="3238500" y="4695825"/>
            <a:ext cx="8343900" cy="685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应用按请求大小访问，不能越界读写管理信息或其他空间。</a:t>
            </a:r>
            <a:endParaRPr sz="19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arena（管理区域）组织多个 chunk，已释放的块可能保留以供复"/>
          <p:cNvSpPr>
            <a:spLocks noGrp="1"/>
          </p:cNvSpPr>
          <p:nvPr/>
        </p:nvSpPr>
        <p:spPr>
          <a:xfrm>
            <a:off x="609600" y="573405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arena（管理区域）组织多个 chunk，已释放的块可能保留以供复用。</a:t>
            </a:r>
            <a:endParaRPr sz="187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2 机制与内存旅程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机制与内存旅程</a:t>
            </a:r>
            <a:endParaRPr sz="14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一块内存的旅程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一块内存的旅程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0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01 申请"/>
          <p:cNvSpPr>
            <a:spLocks noGrp="1"/>
          </p:cNvSpPr>
          <p:nvPr/>
        </p:nvSpPr>
        <p:spPr>
          <a:xfrm>
            <a:off x="609600" y="1924050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申请</a:t>
            </a:r>
            <a:endParaRPr sz="225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malloc(4 * sizeof *p)"/>
          <p:cNvSpPr>
            <a:spLocks noGrp="1"/>
          </p:cNvSpPr>
          <p:nvPr/>
        </p:nvSpPr>
        <p:spPr>
          <a:xfrm>
            <a:off x="609600" y="2533650"/>
            <a:ext cx="2514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malloc(4 * sizeof *p)</a:t>
            </a:r>
            <a:endParaRPr sz="1500" b="0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p"/>
          <p:cNvSpPr>
            <a:spLocks noGrp="1"/>
          </p:cNvSpPr>
          <p:nvPr/>
        </p:nvSpPr>
        <p:spPr>
          <a:xfrm>
            <a:off x="685800" y="307657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</a:t>
            </a:r>
            <a:endParaRPr sz="2025" b="1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机制图连接箭头"/>
          <p:cNvSpPr>
            <a:spLocks noGrp="1"/>
          </p:cNvSpPr>
          <p:nvPr/>
        </p:nvSpPr>
        <p:spPr>
          <a:xfrm>
            <a:off x="781050" y="3371850"/>
            <a:ext cx="152400" cy="228600"/>
          </a:xfrm>
          <a:prstGeom prst="downArrow">
            <a:avLst/>
          </a:prstGeom>
          <a:solidFill>
            <a:srgbClr val="6655CF"/>
          </a:solidFill>
          <a:ln w="0">
            <a:noFill/>
          </a:ln>
        </p:spPr>
      </p:sp>
      <p:sp>
        <p:nvSpPr>
          <p:cNvPr id="11" name="机制图连接箭头"/>
          <p:cNvSpPr>
            <a:spLocks noGrp="1"/>
          </p:cNvSpPr>
          <p:nvPr/>
        </p:nvSpPr>
        <p:spPr>
          <a:xfrm>
            <a:off x="3190875" y="3800475"/>
            <a:ext cx="171450" cy="152400"/>
          </a:xfrm>
          <a:prstGeom prst="rightArrow">
            <a:avLst/>
          </a:prstGeom>
          <a:solidFill>
            <a:srgbClr val="63728A"/>
          </a:solidFill>
          <a:ln w="0">
            <a:noFill/>
          </a:ln>
        </p:spPr>
      </p:sp>
      <p:sp>
        <p:nvSpPr>
          <p:cNvPr id="12" name="02 写入"/>
          <p:cNvSpPr>
            <a:spLocks noGrp="1"/>
          </p:cNvSpPr>
          <p:nvPr/>
        </p:nvSpPr>
        <p:spPr>
          <a:xfrm>
            <a:off x="3429000" y="1924050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写入</a:t>
            </a:r>
            <a:endParaRPr sz="225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p[i] = i + 1"/>
          <p:cNvSpPr>
            <a:spLocks noGrp="1"/>
          </p:cNvSpPr>
          <p:nvPr/>
        </p:nvSpPr>
        <p:spPr>
          <a:xfrm>
            <a:off x="3429000" y="2533650"/>
            <a:ext cx="2514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0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p[i] = i + 1</a:t>
            </a:r>
            <a:endParaRPr sz="1500" b="0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p"/>
          <p:cNvSpPr>
            <a:spLocks noGrp="1"/>
          </p:cNvSpPr>
          <p:nvPr/>
        </p:nvSpPr>
        <p:spPr>
          <a:xfrm>
            <a:off x="3505200" y="307657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</a:t>
            </a:r>
            <a:endParaRPr sz="2025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机制图连接箭头"/>
          <p:cNvSpPr>
            <a:spLocks noGrp="1"/>
          </p:cNvSpPr>
          <p:nvPr/>
        </p:nvSpPr>
        <p:spPr>
          <a:xfrm>
            <a:off x="3600450" y="3371850"/>
            <a:ext cx="152400" cy="228600"/>
          </a:xfrm>
          <a:prstGeom prst="downArrow">
            <a:avLst/>
          </a:prstGeom>
          <a:solidFill>
            <a:srgbClr val="008C7D"/>
          </a:solidFill>
          <a:ln w="0">
            <a:noFill/>
          </a:ln>
        </p:spPr>
      </p:sp>
      <p:sp>
        <p:nvSpPr>
          <p:cNvPr id="16" name="机制图连接箭头"/>
          <p:cNvSpPr>
            <a:spLocks noGrp="1"/>
          </p:cNvSpPr>
          <p:nvPr/>
        </p:nvSpPr>
        <p:spPr>
          <a:xfrm>
            <a:off x="6010275" y="3800475"/>
            <a:ext cx="171450" cy="152400"/>
          </a:xfrm>
          <a:prstGeom prst="rightArrow">
            <a:avLst/>
          </a:prstGeom>
          <a:solidFill>
            <a:srgbClr val="63728A"/>
          </a:solidFill>
          <a:ln w="0">
            <a:noFill/>
          </a:ln>
        </p:spPr>
      </p:sp>
      <p:sp>
        <p:nvSpPr>
          <p:cNvPr id="17" name="03 读取"/>
          <p:cNvSpPr>
            <a:spLocks noGrp="1"/>
          </p:cNvSpPr>
          <p:nvPr/>
        </p:nvSpPr>
        <p:spPr>
          <a:xfrm>
            <a:off x="6248400" y="1924050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读取</a:t>
            </a:r>
            <a:endParaRPr sz="225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p[3]"/>
          <p:cNvSpPr>
            <a:spLocks noGrp="1"/>
          </p:cNvSpPr>
          <p:nvPr/>
        </p:nvSpPr>
        <p:spPr>
          <a:xfrm>
            <a:off x="6248400" y="2533650"/>
            <a:ext cx="2514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0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p[3]</a:t>
            </a:r>
            <a:endParaRPr sz="1500" b="0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9" name="p"/>
          <p:cNvSpPr>
            <a:spLocks noGrp="1"/>
          </p:cNvSpPr>
          <p:nvPr/>
        </p:nvSpPr>
        <p:spPr>
          <a:xfrm>
            <a:off x="6324600" y="3076575"/>
            <a:ext cx="457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</a:t>
            </a:r>
            <a:endParaRPr sz="20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0" name="机制图连接箭头"/>
          <p:cNvSpPr>
            <a:spLocks noGrp="1"/>
          </p:cNvSpPr>
          <p:nvPr/>
        </p:nvSpPr>
        <p:spPr>
          <a:xfrm>
            <a:off x="6419850" y="3371850"/>
            <a:ext cx="152400" cy="228600"/>
          </a:xfrm>
          <a:prstGeom prst="downArrow">
            <a:avLst/>
          </a:prstGeom>
          <a:solidFill>
            <a:srgbClr val="DA704B"/>
          </a:solidFill>
          <a:ln w="0">
            <a:noFill/>
          </a:ln>
        </p:spPr>
      </p:sp>
      <p:sp>
        <p:nvSpPr>
          <p:cNvPr id="21" name="机制图连接箭头"/>
          <p:cNvSpPr>
            <a:spLocks noGrp="1"/>
          </p:cNvSpPr>
          <p:nvPr/>
        </p:nvSpPr>
        <p:spPr>
          <a:xfrm>
            <a:off x="8829675" y="3800475"/>
            <a:ext cx="171450" cy="152400"/>
          </a:xfrm>
          <a:prstGeom prst="rightArrow">
            <a:avLst/>
          </a:prstGeom>
          <a:solidFill>
            <a:srgbClr val="63728A"/>
          </a:solidFill>
          <a:ln w="0">
            <a:noFill/>
          </a:ln>
        </p:spPr>
      </p:sp>
      <p:sp>
        <p:nvSpPr>
          <p:cNvPr id="22" name="04 释放"/>
          <p:cNvSpPr>
            <a:spLocks noGrp="1"/>
          </p:cNvSpPr>
          <p:nvPr/>
        </p:nvSpPr>
        <p:spPr>
          <a:xfrm>
            <a:off x="9067800" y="1924050"/>
            <a:ext cx="25146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释放</a:t>
            </a:r>
            <a:endParaRPr sz="225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free(p)"/>
          <p:cNvSpPr>
            <a:spLocks noGrp="1"/>
          </p:cNvSpPr>
          <p:nvPr/>
        </p:nvSpPr>
        <p:spPr>
          <a:xfrm>
            <a:off x="9067800" y="2533650"/>
            <a:ext cx="25146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500" b="0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free(p)</a:t>
            </a:r>
            <a:endParaRPr sz="1500" b="0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4" name="内存元素 0"/>
          <p:cNvSpPr>
            <a:spLocks noGrp="1"/>
          </p:cNvSpPr>
          <p:nvPr/>
        </p:nvSpPr>
        <p:spPr>
          <a:xfrm>
            <a:off x="609600" y="3714750"/>
            <a:ext cx="590550" cy="638175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5" name="?"/>
          <p:cNvSpPr>
            <a:spLocks noGrp="1"/>
          </p:cNvSpPr>
          <p:nvPr/>
        </p:nvSpPr>
        <p:spPr>
          <a:xfrm>
            <a:off x="60960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?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6" name="内存元素 1"/>
          <p:cNvSpPr>
            <a:spLocks noGrp="1"/>
          </p:cNvSpPr>
          <p:nvPr/>
        </p:nvSpPr>
        <p:spPr>
          <a:xfrm>
            <a:off x="1200150" y="3714750"/>
            <a:ext cx="590550" cy="638175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7" name="?"/>
          <p:cNvSpPr>
            <a:spLocks noGrp="1"/>
          </p:cNvSpPr>
          <p:nvPr/>
        </p:nvSpPr>
        <p:spPr>
          <a:xfrm>
            <a:off x="120015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?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8" name="内存元素 2"/>
          <p:cNvSpPr>
            <a:spLocks noGrp="1"/>
          </p:cNvSpPr>
          <p:nvPr/>
        </p:nvSpPr>
        <p:spPr>
          <a:xfrm>
            <a:off x="1790700" y="3714750"/>
            <a:ext cx="590550" cy="638175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9" name="?"/>
          <p:cNvSpPr>
            <a:spLocks noGrp="1"/>
          </p:cNvSpPr>
          <p:nvPr/>
        </p:nvSpPr>
        <p:spPr>
          <a:xfrm>
            <a:off x="179070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?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内存元素 3"/>
          <p:cNvSpPr>
            <a:spLocks noGrp="1"/>
          </p:cNvSpPr>
          <p:nvPr/>
        </p:nvSpPr>
        <p:spPr>
          <a:xfrm>
            <a:off x="2381250" y="3714750"/>
            <a:ext cx="590550" cy="638175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1" name="?"/>
          <p:cNvSpPr>
            <a:spLocks noGrp="1"/>
          </p:cNvSpPr>
          <p:nvPr/>
        </p:nvSpPr>
        <p:spPr>
          <a:xfrm>
            <a:off x="238125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?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2" name="内存元素 0"/>
          <p:cNvSpPr>
            <a:spLocks noGrp="1"/>
          </p:cNvSpPr>
          <p:nvPr/>
        </p:nvSpPr>
        <p:spPr>
          <a:xfrm>
            <a:off x="3429000" y="3714750"/>
            <a:ext cx="590550" cy="63817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3" name="1"/>
          <p:cNvSpPr>
            <a:spLocks noGrp="1"/>
          </p:cNvSpPr>
          <p:nvPr/>
        </p:nvSpPr>
        <p:spPr>
          <a:xfrm>
            <a:off x="342900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4" name="内存元素 1"/>
          <p:cNvSpPr>
            <a:spLocks noGrp="1"/>
          </p:cNvSpPr>
          <p:nvPr/>
        </p:nvSpPr>
        <p:spPr>
          <a:xfrm>
            <a:off x="4019550" y="3714750"/>
            <a:ext cx="590550" cy="63817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5" name="2"/>
          <p:cNvSpPr>
            <a:spLocks noGrp="1"/>
          </p:cNvSpPr>
          <p:nvPr/>
        </p:nvSpPr>
        <p:spPr>
          <a:xfrm>
            <a:off x="401955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6" name="内存元素 2"/>
          <p:cNvSpPr>
            <a:spLocks noGrp="1"/>
          </p:cNvSpPr>
          <p:nvPr/>
        </p:nvSpPr>
        <p:spPr>
          <a:xfrm>
            <a:off x="4610100" y="3714750"/>
            <a:ext cx="590550" cy="63817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7" name="3"/>
          <p:cNvSpPr>
            <a:spLocks noGrp="1"/>
          </p:cNvSpPr>
          <p:nvPr/>
        </p:nvSpPr>
        <p:spPr>
          <a:xfrm>
            <a:off x="461010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8" name="内存元素 3"/>
          <p:cNvSpPr>
            <a:spLocks noGrp="1"/>
          </p:cNvSpPr>
          <p:nvPr/>
        </p:nvSpPr>
        <p:spPr>
          <a:xfrm>
            <a:off x="5200650" y="3714750"/>
            <a:ext cx="590550" cy="63817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39" name="4"/>
          <p:cNvSpPr>
            <a:spLocks noGrp="1"/>
          </p:cNvSpPr>
          <p:nvPr/>
        </p:nvSpPr>
        <p:spPr>
          <a:xfrm>
            <a:off x="520065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0" name="内存元素 0"/>
          <p:cNvSpPr>
            <a:spLocks noGrp="1"/>
          </p:cNvSpPr>
          <p:nvPr/>
        </p:nvSpPr>
        <p:spPr>
          <a:xfrm>
            <a:off x="6248400" y="3714750"/>
            <a:ext cx="590550" cy="63817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41" name="1"/>
          <p:cNvSpPr>
            <a:spLocks noGrp="1"/>
          </p:cNvSpPr>
          <p:nvPr/>
        </p:nvSpPr>
        <p:spPr>
          <a:xfrm>
            <a:off x="624840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1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2" name="内存元素 1"/>
          <p:cNvSpPr>
            <a:spLocks noGrp="1"/>
          </p:cNvSpPr>
          <p:nvPr/>
        </p:nvSpPr>
        <p:spPr>
          <a:xfrm>
            <a:off x="6838950" y="3714750"/>
            <a:ext cx="590550" cy="63817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43" name="2"/>
          <p:cNvSpPr>
            <a:spLocks noGrp="1"/>
          </p:cNvSpPr>
          <p:nvPr/>
        </p:nvSpPr>
        <p:spPr>
          <a:xfrm>
            <a:off x="683895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2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4" name="内存元素 2"/>
          <p:cNvSpPr>
            <a:spLocks noGrp="1"/>
          </p:cNvSpPr>
          <p:nvPr/>
        </p:nvSpPr>
        <p:spPr>
          <a:xfrm>
            <a:off x="7429500" y="3714750"/>
            <a:ext cx="590550" cy="638175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45" name="3"/>
          <p:cNvSpPr>
            <a:spLocks noGrp="1"/>
          </p:cNvSpPr>
          <p:nvPr/>
        </p:nvSpPr>
        <p:spPr>
          <a:xfrm>
            <a:off x="742950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3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6" name="内存元素 3"/>
          <p:cNvSpPr>
            <a:spLocks noGrp="1"/>
          </p:cNvSpPr>
          <p:nvPr/>
        </p:nvSpPr>
        <p:spPr>
          <a:xfrm>
            <a:off x="8020050" y="3714750"/>
            <a:ext cx="590550" cy="638175"/>
          </a:xfrm>
          <a:prstGeom prst="rect">
            <a:avLst/>
          </a:prstGeom>
          <a:solidFill>
            <a:srgbClr val="FBEEE6"/>
          </a:solidFill>
          <a:ln w="14288">
            <a:solidFill>
              <a:srgbClr val="DA704B"/>
            </a:solidFill>
            <a:prstDash val="solid"/>
          </a:ln>
        </p:spPr>
      </p:sp>
      <p:sp>
        <p:nvSpPr>
          <p:cNvPr id="47" name="4"/>
          <p:cNvSpPr>
            <a:spLocks noGrp="1"/>
          </p:cNvSpPr>
          <p:nvPr/>
        </p:nvSpPr>
        <p:spPr>
          <a:xfrm>
            <a:off x="802005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4</a:t>
            </a:r>
            <a:endParaRPr sz="20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48" name="内存元素 0"/>
          <p:cNvSpPr>
            <a:spLocks noGrp="1"/>
          </p:cNvSpPr>
          <p:nvPr/>
        </p:nvSpPr>
        <p:spPr>
          <a:xfrm>
            <a:off x="9067800" y="3714750"/>
            <a:ext cx="590550" cy="638175"/>
          </a:xfrm>
          <a:prstGeom prst="rect">
            <a:avLst/>
          </a:prstGeom>
          <a:solidFill>
            <a:srgbClr val="E9ECF1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49" name="×"/>
          <p:cNvSpPr>
            <a:spLocks noGrp="1"/>
          </p:cNvSpPr>
          <p:nvPr/>
        </p:nvSpPr>
        <p:spPr>
          <a:xfrm>
            <a:off x="906780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×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0" name="内存元素 1"/>
          <p:cNvSpPr>
            <a:spLocks noGrp="1"/>
          </p:cNvSpPr>
          <p:nvPr/>
        </p:nvSpPr>
        <p:spPr>
          <a:xfrm>
            <a:off x="9658350" y="3714750"/>
            <a:ext cx="590550" cy="638175"/>
          </a:xfrm>
          <a:prstGeom prst="rect">
            <a:avLst/>
          </a:prstGeom>
          <a:solidFill>
            <a:srgbClr val="E9ECF1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51" name="×"/>
          <p:cNvSpPr>
            <a:spLocks noGrp="1"/>
          </p:cNvSpPr>
          <p:nvPr/>
        </p:nvSpPr>
        <p:spPr>
          <a:xfrm>
            <a:off x="965835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×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2" name="内存元素 2"/>
          <p:cNvSpPr>
            <a:spLocks noGrp="1"/>
          </p:cNvSpPr>
          <p:nvPr/>
        </p:nvSpPr>
        <p:spPr>
          <a:xfrm>
            <a:off x="10248900" y="3714750"/>
            <a:ext cx="590550" cy="638175"/>
          </a:xfrm>
          <a:prstGeom prst="rect">
            <a:avLst/>
          </a:prstGeom>
          <a:solidFill>
            <a:srgbClr val="E9ECF1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53" name="×"/>
          <p:cNvSpPr>
            <a:spLocks noGrp="1"/>
          </p:cNvSpPr>
          <p:nvPr/>
        </p:nvSpPr>
        <p:spPr>
          <a:xfrm>
            <a:off x="1024890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×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4" name="内存元素 3"/>
          <p:cNvSpPr>
            <a:spLocks noGrp="1"/>
          </p:cNvSpPr>
          <p:nvPr/>
        </p:nvSpPr>
        <p:spPr>
          <a:xfrm>
            <a:off x="10839450" y="3714750"/>
            <a:ext cx="590550" cy="638175"/>
          </a:xfrm>
          <a:prstGeom prst="rect">
            <a:avLst/>
          </a:prstGeom>
          <a:solidFill>
            <a:srgbClr val="E9ECF1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55" name="×"/>
          <p:cNvSpPr>
            <a:spLocks noGrp="1"/>
          </p:cNvSpPr>
          <p:nvPr/>
        </p:nvSpPr>
        <p:spPr>
          <a:xfrm>
            <a:off x="10839450" y="3857625"/>
            <a:ext cx="5905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ctr">
              <a:def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×</a:t>
            </a:r>
            <a:endParaRPr sz="2025" b="1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56" name="成功后获得空间&#10;内容尚未初始化"/>
          <p:cNvSpPr>
            <a:spLocks noGrp="1"/>
          </p:cNvSpPr>
          <p:nvPr/>
        </p:nvSpPr>
        <p:spPr>
          <a:xfrm>
            <a:off x="609600" y="4695825"/>
            <a:ext cx="25146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成功后获得空间</a:t>
            </a:r>
            <a:endParaRPr sz="180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内容尚未初始化</a:t>
            </a:r>
            <a:endParaRPr sz="180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逐个写入有效值&#10;此时可读取元素"/>
          <p:cNvSpPr>
            <a:spLocks noGrp="1"/>
          </p:cNvSpPr>
          <p:nvPr/>
        </p:nvSpPr>
        <p:spPr>
          <a:xfrm>
            <a:off x="3429000" y="4695825"/>
            <a:ext cx="25146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逐个写入有效值</a:t>
            </a:r>
            <a:endParaRPr sz="180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此时可读取元素</a:t>
            </a:r>
            <a:endParaRPr sz="180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8" name="读取第 4 个元素&#10;输出结果为 4"/>
          <p:cNvSpPr>
            <a:spLocks noGrp="1"/>
          </p:cNvSpPr>
          <p:nvPr/>
        </p:nvSpPr>
        <p:spPr>
          <a:xfrm>
            <a:off x="6248400" y="4695825"/>
            <a:ext cx="25146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读取第 4 个元素</a:t>
            </a:r>
            <a:endParaRPr sz="1800" b="0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输出结果为 4</a:t>
            </a:r>
            <a:endParaRPr sz="1800" b="0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9" name="原对象使用结束&#10;应用不能再访问"/>
          <p:cNvSpPr>
            <a:spLocks noGrp="1"/>
          </p:cNvSpPr>
          <p:nvPr/>
        </p:nvSpPr>
        <p:spPr>
          <a:xfrm>
            <a:off x="9067800" y="4695825"/>
            <a:ext cx="2514600" cy="866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原对象使用结束</a:t>
            </a:r>
            <a:endParaRPr sz="180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应用不能再访问</a:t>
            </a:r>
            <a:endParaRPr sz="180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0" name="释放图中的灰色表示访问失效，不表示内容被清零。"/>
          <p:cNvSpPr>
            <a:spLocks noGrp="1"/>
          </p:cNvSpPr>
          <p:nvPr/>
        </p:nvSpPr>
        <p:spPr>
          <a:xfrm>
            <a:off x="609600" y="58483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释放图中的灰色表示访问失效，不表示内容被清零。</a:t>
            </a:r>
            <a:endParaRPr sz="172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2 机制与内存旅程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机制与内存旅程</a:t>
            </a:r>
            <a:endParaRPr sz="14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glibc 如何获得与扩展内存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glibc 如何获得与扩展内存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1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简化说明：选择取决于请求大小、现有空间和配置。"/>
          <p:cNvSpPr>
            <a:spLocks noGrp="1"/>
          </p:cNvSpPr>
          <p:nvPr/>
        </p:nvSpPr>
        <p:spPr>
          <a:xfrm>
            <a:off x="609600" y="168592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简化说明：选择取决于请求大小、现有空间和配置。</a:t>
            </a:r>
            <a:endParaRPr sz="180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分配请求"/>
          <p:cNvSpPr>
            <a:spLocks noGrp="1"/>
          </p:cNvSpPr>
          <p:nvPr/>
        </p:nvSpPr>
        <p:spPr>
          <a:xfrm>
            <a:off x="609600" y="2343150"/>
            <a:ext cx="2762250" cy="895350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9" name="malloc(size)"/>
          <p:cNvSpPr>
            <a:spLocks noGrp="1"/>
          </p:cNvSpPr>
          <p:nvPr/>
        </p:nvSpPr>
        <p:spPr>
          <a:xfrm>
            <a:off x="800100" y="2590800"/>
            <a:ext cx="238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17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malloc(size)</a:t>
            </a:r>
            <a:endParaRPr sz="2175" b="1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机制图连接箭头"/>
          <p:cNvSpPr>
            <a:spLocks noGrp="1"/>
          </p:cNvSpPr>
          <p:nvPr/>
        </p:nvSpPr>
        <p:spPr>
          <a:xfrm>
            <a:off x="3571875" y="2714625"/>
            <a:ext cx="619125" cy="190500"/>
          </a:xfrm>
          <a:prstGeom prst="rightArrow">
            <a:avLst/>
          </a:prstGeom>
          <a:solidFill>
            <a:srgbClr val="6655CF"/>
          </a:solidFill>
          <a:ln w="0">
            <a:noFill/>
          </a:ln>
        </p:spPr>
      </p:sp>
      <p:sp>
        <p:nvSpPr>
          <p:cNvPr id="11" name="分配器选择路径"/>
          <p:cNvSpPr>
            <a:spLocks noGrp="1"/>
          </p:cNvSpPr>
          <p:nvPr/>
        </p:nvSpPr>
        <p:spPr>
          <a:xfrm>
            <a:off x="4457700" y="2343150"/>
            <a:ext cx="3238500" cy="895350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2" name="分配器选择路径"/>
          <p:cNvSpPr>
            <a:spLocks noGrp="1"/>
          </p:cNvSpPr>
          <p:nvPr/>
        </p:nvSpPr>
        <p:spPr>
          <a:xfrm>
            <a:off x="4648200" y="2543175"/>
            <a:ext cx="2857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分配器选择路径</a:t>
            </a:r>
            <a:endParaRPr sz="217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机制图连接箭头"/>
          <p:cNvSpPr>
            <a:spLocks noGrp="1"/>
          </p:cNvSpPr>
          <p:nvPr/>
        </p:nvSpPr>
        <p:spPr>
          <a:xfrm>
            <a:off x="7934325" y="2714625"/>
            <a:ext cx="638175" cy="190500"/>
          </a:xfrm>
          <a:prstGeom prst="rightArrow">
            <a:avLst/>
          </a:prstGeom>
          <a:solidFill>
            <a:srgbClr val="008C7D"/>
          </a:solidFill>
          <a:ln w="0">
            <a:noFill/>
          </a:ln>
        </p:spPr>
      </p:sp>
      <p:sp>
        <p:nvSpPr>
          <p:cNvPr id="14" name="复用已有空间"/>
          <p:cNvSpPr>
            <a:spLocks noGrp="1"/>
          </p:cNvSpPr>
          <p:nvPr/>
        </p:nvSpPr>
        <p:spPr>
          <a:xfrm>
            <a:off x="8839200" y="2162175"/>
            <a:ext cx="2743200" cy="1238250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5" name="复用已有块"/>
          <p:cNvSpPr>
            <a:spLocks noGrp="1"/>
          </p:cNvSpPr>
          <p:nvPr/>
        </p:nvSpPr>
        <p:spPr>
          <a:xfrm>
            <a:off x="9029700" y="2343150"/>
            <a:ext cx="23622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复用已有块</a:t>
            </a:r>
            <a:endParaRPr sz="20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可能无需系统调用"/>
          <p:cNvSpPr>
            <a:spLocks noGrp="1"/>
          </p:cNvSpPr>
          <p:nvPr/>
        </p:nvSpPr>
        <p:spPr>
          <a:xfrm>
            <a:off x="9029700" y="2914650"/>
            <a:ext cx="2362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可能无需系统调用</a:t>
            </a:r>
            <a:endParaRPr sz="17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机制图连接箭头"/>
          <p:cNvSpPr>
            <a:spLocks noGrp="1"/>
          </p:cNvSpPr>
          <p:nvPr/>
        </p:nvSpPr>
        <p:spPr>
          <a:xfrm>
            <a:off x="5972175" y="3409950"/>
            <a:ext cx="190500" cy="542925"/>
          </a:xfrm>
          <a:prstGeom prst="downArrow">
            <a:avLst/>
          </a:prstGeom>
          <a:solidFill>
            <a:srgbClr val="DA704B"/>
          </a:solidFill>
          <a:ln w="0">
            <a:noFill/>
          </a:ln>
        </p:spPr>
      </p:sp>
      <p:sp>
        <p:nvSpPr>
          <p:cNvPr id="18" name="需要更多空间"/>
          <p:cNvSpPr>
            <a:spLocks noGrp="1"/>
          </p:cNvSpPr>
          <p:nvPr/>
        </p:nvSpPr>
        <p:spPr>
          <a:xfrm>
            <a:off x="4457700" y="4171950"/>
            <a:ext cx="3238500" cy="990600"/>
          </a:xfrm>
          <a:prstGeom prst="rect">
            <a:avLst/>
          </a:prstGeom>
          <a:solidFill>
            <a:srgbClr val="FBEEE6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9" name="需要更多空间"/>
          <p:cNvSpPr>
            <a:spLocks noGrp="1"/>
          </p:cNvSpPr>
          <p:nvPr/>
        </p:nvSpPr>
        <p:spPr>
          <a:xfrm>
            <a:off x="4648200" y="4352925"/>
            <a:ext cx="2857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需要更多空间</a:t>
            </a:r>
            <a:endParaRPr sz="21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可借助内核扩展"/>
          <p:cNvSpPr>
            <a:spLocks noGrp="1"/>
          </p:cNvSpPr>
          <p:nvPr/>
        </p:nvSpPr>
        <p:spPr>
          <a:xfrm>
            <a:off x="4648200" y="4800600"/>
            <a:ext cx="2857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可借助内核扩展</a:t>
            </a:r>
            <a:endParaRPr sz="16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机制图连接线"/>
          <p:cNvSpPr>
            <a:spLocks noGrp="1"/>
          </p:cNvSpPr>
          <p:nvPr/>
        </p:nvSpPr>
        <p:spPr>
          <a:xfrm>
            <a:off x="7696200" y="4667250"/>
            <a:ext cx="552450" cy="0"/>
          </a:xfrm>
          <a:prstGeom prst="line">
            <a:avLst/>
          </a:prstGeom>
          <a:noFill/>
          <a:ln w="19050">
            <a:solidFill>
              <a:srgbClr val="DA704B"/>
            </a:solidFill>
            <a:prstDash val="solid"/>
          </a:ln>
        </p:spPr>
      </p:sp>
      <p:sp>
        <p:nvSpPr>
          <p:cNvPr id="22" name="机制图连接线"/>
          <p:cNvSpPr>
            <a:spLocks noGrp="1"/>
          </p:cNvSpPr>
          <p:nvPr/>
        </p:nvSpPr>
        <p:spPr>
          <a:xfrm>
            <a:off x="8248650" y="4019550"/>
            <a:ext cx="0" cy="1314450"/>
          </a:xfrm>
          <a:prstGeom prst="line">
            <a:avLst/>
          </a:prstGeom>
          <a:noFill/>
          <a:ln w="19050">
            <a:solidFill>
              <a:srgbClr val="DA704B"/>
            </a:solidFill>
            <a:prstDash val="solid"/>
          </a:ln>
        </p:spPr>
      </p:sp>
      <p:sp>
        <p:nvSpPr>
          <p:cNvPr id="23" name="机制图连接箭头"/>
          <p:cNvSpPr>
            <a:spLocks noGrp="1"/>
          </p:cNvSpPr>
          <p:nvPr/>
        </p:nvSpPr>
        <p:spPr>
          <a:xfrm>
            <a:off x="8248650" y="3943350"/>
            <a:ext cx="438150" cy="161925"/>
          </a:xfrm>
          <a:prstGeom prst="rightArrow">
            <a:avLst/>
          </a:prstGeom>
          <a:solidFill>
            <a:srgbClr val="DA704B"/>
          </a:solidFill>
          <a:ln w="0">
            <a:noFill/>
          </a:ln>
        </p:spPr>
      </p:sp>
      <p:sp>
        <p:nvSpPr>
          <p:cNvPr id="24" name="机制图连接箭头"/>
          <p:cNvSpPr>
            <a:spLocks noGrp="1"/>
          </p:cNvSpPr>
          <p:nvPr/>
        </p:nvSpPr>
        <p:spPr>
          <a:xfrm>
            <a:off x="8248650" y="5257800"/>
            <a:ext cx="438150" cy="161925"/>
          </a:xfrm>
          <a:prstGeom prst="rightArrow">
            <a:avLst/>
          </a:prstGeom>
          <a:solidFill>
            <a:srgbClr val="DA704B"/>
          </a:solidFill>
          <a:ln w="0">
            <a:noFill/>
          </a:ln>
        </p:spPr>
      </p:sp>
      <p:sp>
        <p:nvSpPr>
          <p:cNvPr id="25" name="brk扩展途径"/>
          <p:cNvSpPr>
            <a:spLocks noGrp="1"/>
          </p:cNvSpPr>
          <p:nvPr/>
        </p:nvSpPr>
        <p:spPr>
          <a:xfrm>
            <a:off x="8839200" y="3695700"/>
            <a:ext cx="2743200" cy="847725"/>
          </a:xfrm>
          <a:prstGeom prst="rect">
            <a:avLst/>
          </a:prstGeom>
          <a:solidFill>
            <a:srgbClr val="FBEEE6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6" name="brk"/>
          <p:cNvSpPr>
            <a:spLocks noGrp="1"/>
          </p:cNvSpPr>
          <p:nvPr/>
        </p:nvSpPr>
        <p:spPr>
          <a:xfrm>
            <a:off x="9029700" y="3800475"/>
            <a:ext cx="2362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brk</a:t>
            </a:r>
            <a:endParaRPr sz="20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27" name="调整程序堆边界"/>
          <p:cNvSpPr>
            <a:spLocks noGrp="1"/>
          </p:cNvSpPr>
          <p:nvPr/>
        </p:nvSpPr>
        <p:spPr>
          <a:xfrm>
            <a:off x="9029700" y="4200525"/>
            <a:ext cx="2362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调整程序堆边界</a:t>
            </a:r>
            <a:endParaRPr sz="16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mmap扩展途径"/>
          <p:cNvSpPr>
            <a:spLocks noGrp="1"/>
          </p:cNvSpPr>
          <p:nvPr/>
        </p:nvSpPr>
        <p:spPr>
          <a:xfrm>
            <a:off x="8839200" y="4914900"/>
            <a:ext cx="2743200" cy="847725"/>
          </a:xfrm>
          <a:prstGeom prst="rect">
            <a:avLst/>
          </a:prstGeom>
          <a:solidFill>
            <a:srgbClr val="F0EDFA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29" name="mmap"/>
          <p:cNvSpPr>
            <a:spLocks noGrp="1"/>
          </p:cNvSpPr>
          <p:nvPr/>
        </p:nvSpPr>
        <p:spPr>
          <a:xfrm>
            <a:off x="9029700" y="5019675"/>
            <a:ext cx="23622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6655CF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mmap</a:t>
            </a:r>
            <a:endParaRPr sz="2025" b="1">
              <a:solidFill>
                <a:srgbClr val="6655CF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30" name="建立匿名内存映射"/>
          <p:cNvSpPr>
            <a:spLocks noGrp="1"/>
          </p:cNvSpPr>
          <p:nvPr/>
        </p:nvSpPr>
        <p:spPr>
          <a:xfrm>
            <a:off x="9029700" y="5419725"/>
            <a:ext cx="2362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建立匿名内存映射</a:t>
            </a:r>
            <a:endParaRPr sz="1650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mmap 阈值可动态调整。Linux 下返回非空也不保证后续所有物理"/>
          <p:cNvSpPr>
            <a:spLocks noGrp="1"/>
          </p:cNvSpPr>
          <p:nvPr/>
        </p:nvSpPr>
        <p:spPr>
          <a:xfrm>
            <a:off x="609600" y="6048375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mmap 阈值可动态调整。Linux 下返回非空也不保证后续所有物理内存都可用。</a:t>
            </a:r>
            <a:endParaRPr sz="16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2 机制与内存旅程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机制与内存旅程</a:t>
            </a:r>
            <a:endParaRPr sz="14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free 之后发生了什么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free 之后发生了什么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2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应用层面"/>
          <p:cNvSpPr>
            <a:spLocks noGrp="1"/>
          </p:cNvSpPr>
          <p:nvPr/>
        </p:nvSpPr>
        <p:spPr>
          <a:xfrm>
            <a:off x="609600" y="1981200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应用层面</a:t>
            </a:r>
            <a:endParaRPr sz="225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对象的使用权结束。即使旧数据看似仍在，也不能继续读取或写入。"/>
          <p:cNvSpPr>
            <a:spLocks noGrp="1"/>
          </p:cNvSpPr>
          <p:nvPr/>
        </p:nvSpPr>
        <p:spPr>
          <a:xfrm>
            <a:off x="3238500" y="1981200"/>
            <a:ext cx="8286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对象的使用权结束。即使旧数据看似仍在，也不能继续读取或写入。</a:t>
            </a:r>
            <a:endParaRPr sz="20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分配器层面"/>
          <p:cNvSpPr>
            <a:spLocks noGrp="1"/>
          </p:cNvSpPr>
          <p:nvPr/>
        </p:nvSpPr>
        <p:spPr>
          <a:xfrm>
            <a:off x="609600" y="3114675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分配器层面</a:t>
            </a:r>
            <a:endParaRPr sz="225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空间可能进入缓存或其他可用结构，等待后续申请，也可能被归还。"/>
          <p:cNvSpPr>
            <a:spLocks noGrp="1"/>
          </p:cNvSpPr>
          <p:nvPr/>
        </p:nvSpPr>
        <p:spPr>
          <a:xfrm>
            <a:off x="3238500" y="3114675"/>
            <a:ext cx="8286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空间可能进入缓存或其他可用结构，等待后续申请，也可能被归还。</a:t>
            </a:r>
            <a:endParaRPr sz="20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操作系统层面"/>
          <p:cNvSpPr>
            <a:spLocks noGrp="1"/>
          </p:cNvSpPr>
          <p:nvPr/>
        </p:nvSpPr>
        <p:spPr>
          <a:xfrm>
            <a:off x="609600" y="4248150"/>
            <a:ext cx="2381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操作系统层面</a:t>
            </a:r>
            <a:endParaRPr sz="225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是否归还内存取决于分配器策略，进程内存指标不一定立即下降。"/>
          <p:cNvSpPr>
            <a:spLocks noGrp="1"/>
          </p:cNvSpPr>
          <p:nvPr/>
        </p:nvSpPr>
        <p:spPr>
          <a:xfrm>
            <a:off x="3238500" y="4248150"/>
            <a:ext cx="828675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是否归还内存取决于分配器策略，进程内存指标不一定立即下降。</a:t>
            </a:r>
            <a:endParaRPr sz="20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free 结束对象的使用，何时归还操作系统由分配器策略决定。"/>
          <p:cNvSpPr>
            <a:spLocks noGrp="1"/>
          </p:cNvSpPr>
          <p:nvPr/>
        </p:nvSpPr>
        <p:spPr>
          <a:xfrm>
            <a:off x="609600" y="56864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free 结束对象的使用，何时归还操作系统由分配器策略决定。</a:t>
            </a:r>
            <a:endParaRPr sz="180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2 机制与内存旅程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机制与内存旅程</a:t>
            </a:r>
            <a:endParaRPr sz="142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内存碎片与连续空间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内存碎片与连续空间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3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教学模型：固定区域内申请连续空间，不扩展，也不另开映射。"/>
          <p:cNvSpPr>
            <a:spLocks noGrp="1"/>
          </p:cNvSpPr>
          <p:nvPr/>
        </p:nvSpPr>
        <p:spPr>
          <a:xfrm>
            <a:off x="609600" y="1743075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教学模型：固定区域内申请连续空间，不扩展，也不另开映射。</a:t>
            </a:r>
            <a:endParaRPr sz="180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连续区段 0"/>
          <p:cNvSpPr>
            <a:spLocks noGrp="1"/>
          </p:cNvSpPr>
          <p:nvPr/>
        </p:nvSpPr>
        <p:spPr>
          <a:xfrm>
            <a:off x="609600" y="2647950"/>
            <a:ext cx="2743200" cy="952500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9" name="空闲 8 单位"/>
          <p:cNvSpPr>
            <a:spLocks noGrp="1"/>
          </p:cNvSpPr>
          <p:nvPr/>
        </p:nvSpPr>
        <p:spPr>
          <a:xfrm>
            <a:off x="609600" y="2952750"/>
            <a:ext cx="27432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 8 单位</a:t>
            </a:r>
            <a:endParaRPr sz="210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连续区段 1"/>
          <p:cNvSpPr>
            <a:spLocks noGrp="1"/>
          </p:cNvSpPr>
          <p:nvPr/>
        </p:nvSpPr>
        <p:spPr>
          <a:xfrm>
            <a:off x="3352800" y="2647950"/>
            <a:ext cx="2743200" cy="952500"/>
          </a:xfrm>
          <a:prstGeom prst="rect">
            <a:avLst/>
          </a:prstGeom>
          <a:solidFill>
            <a:srgbClr val="FBEEE6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1" name="占用 8 单位"/>
          <p:cNvSpPr>
            <a:spLocks noGrp="1"/>
          </p:cNvSpPr>
          <p:nvPr/>
        </p:nvSpPr>
        <p:spPr>
          <a:xfrm>
            <a:off x="3352800" y="2952750"/>
            <a:ext cx="27432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占用 8 单位</a:t>
            </a:r>
            <a:endParaRPr sz="21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连续区段 2"/>
          <p:cNvSpPr>
            <a:spLocks noGrp="1"/>
          </p:cNvSpPr>
          <p:nvPr/>
        </p:nvSpPr>
        <p:spPr>
          <a:xfrm>
            <a:off x="6096000" y="2647950"/>
            <a:ext cx="2743200" cy="952500"/>
          </a:xfrm>
          <a:prstGeom prst="rect">
            <a:avLst/>
          </a:prstGeom>
          <a:solidFill>
            <a:srgbClr val="E8F4F0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3" name="空闲 8 单位"/>
          <p:cNvSpPr>
            <a:spLocks noGrp="1"/>
          </p:cNvSpPr>
          <p:nvPr/>
        </p:nvSpPr>
        <p:spPr>
          <a:xfrm>
            <a:off x="6096000" y="2952750"/>
            <a:ext cx="27432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空闲 8 单位</a:t>
            </a:r>
            <a:endParaRPr sz="210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连续区段 3"/>
          <p:cNvSpPr>
            <a:spLocks noGrp="1"/>
          </p:cNvSpPr>
          <p:nvPr/>
        </p:nvSpPr>
        <p:spPr>
          <a:xfrm>
            <a:off x="8839200" y="2647950"/>
            <a:ext cx="2743200" cy="952500"/>
          </a:xfrm>
          <a:prstGeom prst="rect">
            <a:avLst/>
          </a:prstGeom>
          <a:solidFill>
            <a:srgbClr val="FBEEE6"/>
          </a:solidFill>
          <a:ln w="14288">
            <a:solidFill>
              <a:srgbClr val="D9DFE9"/>
            </a:solidFill>
            <a:prstDash val="solid"/>
          </a:ln>
        </p:spPr>
      </p:sp>
      <p:sp>
        <p:nvSpPr>
          <p:cNvPr id="15" name="占用 8 单位"/>
          <p:cNvSpPr>
            <a:spLocks noGrp="1"/>
          </p:cNvSpPr>
          <p:nvPr/>
        </p:nvSpPr>
        <p:spPr>
          <a:xfrm>
            <a:off x="8839200" y="2952750"/>
            <a:ext cx="27432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占用 8 单位</a:t>
            </a:r>
            <a:endParaRPr sz="21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新请求：连续 12 单位"/>
          <p:cNvSpPr>
            <a:spLocks noGrp="1"/>
          </p:cNvSpPr>
          <p:nvPr/>
        </p:nvSpPr>
        <p:spPr>
          <a:xfrm>
            <a:off x="609600" y="4133850"/>
            <a:ext cx="5143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新请求：连续 12 单位</a:t>
            </a:r>
            <a:endParaRPr sz="210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十二单位的连续空间请求"/>
          <p:cNvSpPr>
            <a:spLocks noGrp="1"/>
          </p:cNvSpPr>
          <p:nvPr/>
        </p:nvSpPr>
        <p:spPr>
          <a:xfrm>
            <a:off x="609600" y="4695825"/>
            <a:ext cx="4114800" cy="600075"/>
          </a:xfrm>
          <a:prstGeom prst="rect">
            <a:avLst/>
          </a:prstGeom>
          <a:solidFill>
            <a:srgbClr val="F0EDFA"/>
          </a:solidFill>
          <a:ln w="14288">
            <a:solidFill>
              <a:srgbClr val="6655CF"/>
            </a:solidFill>
            <a:prstDash val="solid"/>
          </a:ln>
        </p:spPr>
      </p:sp>
      <p:sp>
        <p:nvSpPr>
          <p:cNvPr id="18" name="12 单位"/>
          <p:cNvSpPr>
            <a:spLocks noGrp="1"/>
          </p:cNvSpPr>
          <p:nvPr/>
        </p:nvSpPr>
        <p:spPr>
          <a:xfrm>
            <a:off x="609600" y="4829175"/>
            <a:ext cx="41148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ctr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 单位</a:t>
            </a:r>
            <a:endParaRPr sz="202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总空闲量 16"/>
          <p:cNvSpPr>
            <a:spLocks noGrp="1"/>
          </p:cNvSpPr>
          <p:nvPr/>
        </p:nvSpPr>
        <p:spPr>
          <a:xfrm>
            <a:off x="6610350" y="414337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总空闲量 16</a:t>
            </a:r>
            <a:endParaRPr sz="240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最大连续空闲段 8"/>
          <p:cNvSpPr>
            <a:spLocks noGrp="1"/>
          </p:cNvSpPr>
          <p:nvPr/>
        </p:nvSpPr>
        <p:spPr>
          <a:xfrm>
            <a:off x="6610350" y="4752975"/>
            <a:ext cx="4762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最大连续空闲段 8</a:t>
            </a:r>
            <a:endParaRPr sz="24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两个空闲段被占用块隔开，当前区域容不下这一连续请求。"/>
          <p:cNvSpPr>
            <a:spLocks noGrp="1"/>
          </p:cNvSpPr>
          <p:nvPr/>
        </p:nvSpPr>
        <p:spPr>
          <a:xfrm>
            <a:off x="609600" y="5619750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两个空闲段被占用块隔开，当前区域容不下这一连续请求。</a:t>
            </a:r>
            <a:endParaRPr sz="187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外部碎片来自空闲区域分散，内部浪费可来自块内取整或对齐。"/>
          <p:cNvSpPr>
            <a:spLocks noGrp="1"/>
          </p:cNvSpPr>
          <p:nvPr/>
        </p:nvSpPr>
        <p:spPr>
          <a:xfrm>
            <a:off x="609600" y="6096000"/>
            <a:ext cx="109728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外部碎片来自空闲区域分散，内部浪费可来自块内取整或对齐。</a:t>
            </a:r>
            <a:endParaRPr sz="16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3 用法与注意事项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用法与注意事项</a:t>
            </a:r>
            <a:endParaRPr sz="142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malloc、calloc、realloc 与 free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malloc、calloc、realloc 与 free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4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876425"/>
          <a:ext cx="10972800" cy="3333750"/>
        </p:xfrm>
        <a:graphic>
          <a:graphicData uri="http://schemas.openxmlformats.org/drawingml/2006/table">
            <a:tbl>
              <a:tblPr/>
              <a:tblGrid>
                <a:gridCol w="1619250"/>
                <a:gridCol w="2571750"/>
                <a:gridCol w="3505200"/>
                <a:gridCol w="3276600"/>
              </a:tblGrid>
              <a:tr h="6667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函数</a:t>
                      </a:r>
                      <a:endParaRPr sz="1725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主要作用</a:t>
                      </a:r>
                      <a:endParaRPr sz="1725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数据状态</a:t>
                      </a:r>
                      <a:endParaRPr sz="1725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注意事项</a:t>
                      </a:r>
                      <a:endParaRPr sz="1725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malloc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申请指定字节数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不初始化内容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先检查返回值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calloc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申请元素数组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按字节清零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检查分配失败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能检测乘法溢出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realloc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调整已有块大小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保留新旧大小较小范围内的数据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新增部分不初始化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可能移动对象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free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释放分配得到的对象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原对象不再可用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不能重复释放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725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free(NULL) 不做操作</a:t>
                      </a:r>
                      <a:endParaRPr sz="1725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可移植代码应避免依赖 malloc(0) 或 realloc(p, "/>
          <p:cNvSpPr>
            <a:spLocks noGrp="1"/>
          </p:cNvSpPr>
          <p:nvPr/>
        </p:nvSpPr>
        <p:spPr>
          <a:xfrm>
            <a:off x="609600" y="56864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可移植代码应避免依赖 malloc(0) 或 realloc(p, 0) 的特殊行为。</a:t>
            </a:r>
            <a:endParaRPr sz="18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3 用法与注意事项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用法与注意事项</a:t>
            </a:r>
            <a:endParaRPr sz="142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alloc 的安全写法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realloc 的安全写法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5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前提：p 有效，new_n &gt; 0，并已检查大小计算不会溢出。"/>
          <p:cNvSpPr>
            <a:spLocks noGrp="1"/>
          </p:cNvSpPr>
          <p:nvPr/>
        </p:nvSpPr>
        <p:spPr>
          <a:xfrm>
            <a:off x="609600" y="1800225"/>
            <a:ext cx="1085850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前提：p 有效，new_n &gt; 0，并已检查大小计算不会溢出。</a:t>
            </a:r>
            <a:endParaRPr sz="187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字底色"/>
          <p:cNvSpPr>
            <a:spLocks noGrp="1"/>
          </p:cNvSpPr>
          <p:nvPr/>
        </p:nvSpPr>
        <p:spPr>
          <a:xfrm>
            <a:off x="609600" y="2447925"/>
            <a:ext cx="6962775" cy="2495550"/>
          </a:xfrm>
          <a:prstGeom prst="rect">
            <a:avLst/>
          </a:prstGeom>
          <a:solidFill>
            <a:srgbClr val="FBEEE6"/>
          </a:solidFill>
          <a:ln w="0">
            <a:noFill/>
          </a:ln>
        </p:spPr>
      </p:sp>
      <p:sp>
        <p:nvSpPr>
          <p:cNvPr id="9" name="int *tmp = realloc(p, new_n * size"/>
          <p:cNvSpPr>
            <a:spLocks noGrp="1"/>
          </p:cNvSpPr>
          <p:nvPr/>
        </p:nvSpPr>
        <p:spPr>
          <a:xfrm>
            <a:off x="781050" y="2647950"/>
            <a:ext cx="66389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*tmp = realloc(p, new_n * sizeof *p);</a:t>
            </a:r>
            <a:endParaRPr sz="1725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if (tmp == NULL) {"/>
          <p:cNvSpPr>
            <a:spLocks noGrp="1"/>
          </p:cNvSpPr>
          <p:nvPr/>
        </p:nvSpPr>
        <p:spPr>
          <a:xfrm>
            <a:off x="781050" y="2981325"/>
            <a:ext cx="66389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if (tmp == NULL) {</a:t>
            </a:r>
            <a:endParaRPr sz="17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    free(p);"/>
          <p:cNvSpPr>
            <a:spLocks noGrp="1"/>
          </p:cNvSpPr>
          <p:nvPr/>
        </p:nvSpPr>
        <p:spPr>
          <a:xfrm>
            <a:off x="781050" y="3314700"/>
            <a:ext cx="66389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free(p);</a:t>
            </a:r>
            <a:endParaRPr sz="17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    return EXIT_FAILURE;"/>
          <p:cNvSpPr>
            <a:spLocks noGrp="1"/>
          </p:cNvSpPr>
          <p:nvPr/>
        </p:nvSpPr>
        <p:spPr>
          <a:xfrm>
            <a:off x="781050" y="3648075"/>
            <a:ext cx="66389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EXIT_FAILURE;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}"/>
          <p:cNvSpPr>
            <a:spLocks noGrp="1"/>
          </p:cNvSpPr>
          <p:nvPr/>
        </p:nvSpPr>
        <p:spPr>
          <a:xfrm>
            <a:off x="781050" y="3981450"/>
            <a:ext cx="66389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p = tmp;"/>
          <p:cNvSpPr>
            <a:spLocks noGrp="1"/>
          </p:cNvSpPr>
          <p:nvPr/>
        </p:nvSpPr>
        <p:spPr>
          <a:xfrm>
            <a:off x="781050" y="4314825"/>
            <a:ext cx="66389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 = tmp;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失败时"/>
          <p:cNvSpPr>
            <a:spLocks noGrp="1"/>
          </p:cNvSpPr>
          <p:nvPr/>
        </p:nvSpPr>
        <p:spPr>
          <a:xfrm>
            <a:off x="8058150" y="244792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失败时</a:t>
            </a:r>
            <a:endParaRPr sz="225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原块仍有效。示例选择释放它并退出，也可按程序策略保留继续使用。"/>
          <p:cNvSpPr>
            <a:spLocks noGrp="1"/>
          </p:cNvSpPr>
          <p:nvPr/>
        </p:nvSpPr>
        <p:spPr>
          <a:xfrm>
            <a:off x="8058150" y="2990850"/>
            <a:ext cx="3429000" cy="1104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原块仍有效。示例选择释放它并退出，也可按程序策略保留继续使用。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成功时"/>
          <p:cNvSpPr>
            <a:spLocks noGrp="1"/>
          </p:cNvSpPr>
          <p:nvPr/>
        </p:nvSpPr>
        <p:spPr>
          <a:xfrm>
            <a:off x="8058150" y="4257675"/>
            <a:ext cx="333375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成功时</a:t>
            </a:r>
            <a:endParaRPr sz="225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使用新返回值。旧的别名指针需要重新建立。"/>
          <p:cNvSpPr>
            <a:spLocks noGrp="1"/>
          </p:cNvSpPr>
          <p:nvPr/>
        </p:nvSpPr>
        <p:spPr>
          <a:xfrm>
            <a:off x="8058150" y="4800600"/>
            <a:ext cx="3429000" cy="790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使用新返回值。旧的别名指针需要重新建立。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用临时指针接收结果，避免失败时覆盖唯一的旧指针而造成泄漏。"/>
          <p:cNvSpPr>
            <a:spLocks noGrp="1"/>
          </p:cNvSpPr>
          <p:nvPr/>
        </p:nvSpPr>
        <p:spPr>
          <a:xfrm>
            <a:off x="609600" y="56864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用临时指针接收结果，避免失败时覆盖唯一的旧指针而造成泄漏。</a:t>
            </a:r>
            <a:endParaRPr sz="18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3 用法与注意事项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用法与注意事项</a:t>
            </a:r>
            <a:endParaRPr sz="142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大小计算与边界检查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大小计算与边界检查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6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字底色"/>
          <p:cNvSpPr>
            <a:spLocks noGrp="1"/>
          </p:cNvSpPr>
          <p:nvPr/>
        </p:nvSpPr>
        <p:spPr>
          <a:xfrm>
            <a:off x="609600" y="1971675"/>
            <a:ext cx="6905625" cy="2990850"/>
          </a:xfrm>
          <a:prstGeom prst="rect">
            <a:avLst/>
          </a:prstGeom>
          <a:solidFill>
            <a:srgbClr val="F0EDFA"/>
          </a:solidFill>
          <a:ln w="0">
            <a:noFill/>
          </a:ln>
        </p:spPr>
      </p:sp>
      <p:sp>
        <p:nvSpPr>
          <p:cNvPr id="8" name="#include &lt;stdint.h&gt;"/>
          <p:cNvSpPr>
            <a:spLocks noGrp="1"/>
          </p:cNvSpPr>
          <p:nvPr/>
        </p:nvSpPr>
        <p:spPr>
          <a:xfrm>
            <a:off x="781050" y="21336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#include &lt;stdint.h&gt;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9" name="#include &lt;stdlib.h&gt;"/>
          <p:cNvSpPr>
            <a:spLocks noGrp="1"/>
          </p:cNvSpPr>
          <p:nvPr/>
        </p:nvSpPr>
        <p:spPr>
          <a:xfrm>
            <a:off x="781050" y="245745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#include &lt;stdlib.h&gt;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0" name="int *alloc_ints(size_t n) {"/>
          <p:cNvSpPr>
            <a:spLocks noGrp="1"/>
          </p:cNvSpPr>
          <p:nvPr/>
        </p:nvSpPr>
        <p:spPr>
          <a:xfrm>
            <a:off x="781050" y="27813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int *alloc_ints(size_t n) {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    int *p;"/>
          <p:cNvSpPr>
            <a:spLocks noGrp="1"/>
          </p:cNvSpPr>
          <p:nvPr/>
        </p:nvSpPr>
        <p:spPr>
          <a:xfrm>
            <a:off x="781050" y="310515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int *p;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    if (n == 0 || n &gt; SIZE_MAX / s"/>
          <p:cNvSpPr>
            <a:spLocks noGrp="1"/>
          </p:cNvSpPr>
          <p:nvPr/>
        </p:nvSpPr>
        <p:spPr>
          <a:xfrm>
            <a:off x="781050" y="34290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if (n == 0 || n &gt; SIZE_MAX / sizeof *p)</a:t>
            </a:r>
            <a:endParaRPr sz="17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3" name="        return NULL;"/>
          <p:cNvSpPr>
            <a:spLocks noGrp="1"/>
          </p:cNvSpPr>
          <p:nvPr/>
        </p:nvSpPr>
        <p:spPr>
          <a:xfrm>
            <a:off x="781050" y="375285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    return NULL;</a:t>
            </a:r>
            <a:endParaRPr sz="17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4" name="    return malloc(n * sizeof *p);"/>
          <p:cNvSpPr>
            <a:spLocks noGrp="1"/>
          </p:cNvSpPr>
          <p:nvPr/>
        </p:nvSpPr>
        <p:spPr>
          <a:xfrm>
            <a:off x="781050" y="407670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1">
                <a:solidFill>
                  <a:srgbClr val="008C7D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    return malloc(n * sizeof *p);</a:t>
            </a:r>
            <a:endParaRPr sz="1725" b="1">
              <a:solidFill>
                <a:srgbClr val="008C7D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}"/>
          <p:cNvSpPr>
            <a:spLocks noGrp="1"/>
          </p:cNvSpPr>
          <p:nvPr/>
        </p:nvSpPr>
        <p:spPr>
          <a:xfrm>
            <a:off x="781050" y="4400550"/>
            <a:ext cx="6572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17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}</a:t>
            </a:r>
            <a:endParaRPr sz="17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乘法溢出"/>
          <p:cNvSpPr>
            <a:spLocks noGrp="1"/>
          </p:cNvSpPr>
          <p:nvPr/>
        </p:nvSpPr>
        <p:spPr>
          <a:xfrm>
            <a:off x="7943850" y="2009775"/>
            <a:ext cx="347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乘法溢出</a:t>
            </a:r>
            <a:endParaRPr sz="225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先用除法比较上界，再计算元素数乘以元素大小。"/>
          <p:cNvSpPr>
            <a:spLocks noGrp="1"/>
          </p:cNvSpPr>
          <p:nvPr/>
        </p:nvSpPr>
        <p:spPr>
          <a:xfrm>
            <a:off x="7943850" y="2552700"/>
            <a:ext cx="347662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先用除法比较上界，再计算元素数乘以元素大小。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字符串终止符"/>
          <p:cNvSpPr>
            <a:spLocks noGrp="1"/>
          </p:cNvSpPr>
          <p:nvPr/>
        </p:nvSpPr>
        <p:spPr>
          <a:xfrm>
            <a:off x="7943850" y="3857625"/>
            <a:ext cx="347662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字符串终止符</a:t>
            </a:r>
            <a:endParaRPr sz="2250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字符串除内容外，还需为结尾&#10;的 \0 额外预留 1 字节。&#10;同时检查"/>
          <p:cNvSpPr>
            <a:spLocks noGrp="1"/>
          </p:cNvSpPr>
          <p:nvPr/>
        </p:nvSpPr>
        <p:spPr>
          <a:xfrm>
            <a:off x="7943850" y="4400550"/>
            <a:ext cx="3476625" cy="1085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字符串除内容外，还需为结尾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 \0 额外预留 1 字节。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同时检查加法溢出。</a:t>
            </a:r>
            <a:endParaRPr sz="18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sizeof p 是指针大小，sizeof *p 才对应它指向的元素"/>
          <p:cNvSpPr>
            <a:spLocks noGrp="1"/>
          </p:cNvSpPr>
          <p:nvPr/>
        </p:nvSpPr>
        <p:spPr>
          <a:xfrm>
            <a:off x="609600" y="56864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sizeof p 是指针大小，sizeof *p 才对应它指向的元素类型。</a:t>
            </a:r>
            <a:endParaRPr sz="18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3 用法与注意事项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用法与注意事项</a:t>
            </a:r>
            <a:endParaRPr sz="142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常见错误：泄漏、越界与未初始化读取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常见错误：泄漏、越界与未初始化读取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7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933575"/>
          <a:ext cx="10972800" cy="3124200"/>
        </p:xfrm>
        <a:graphic>
          <a:graphicData uri="http://schemas.openxmlformats.org/drawingml/2006/table">
            <a:tbl>
              <a:tblPr/>
              <a:tblGrid>
                <a:gridCol w="2057400"/>
                <a:gridCol w="4686300"/>
                <a:gridCol w="4229100"/>
              </a:tblGrid>
              <a:tr h="7810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错误</a:t>
                      </a:r>
                      <a:endParaRPr sz="1800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问题是什么</a:t>
                      </a:r>
                      <a:endParaRPr sz="1800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改进方式</a:t>
                      </a:r>
                      <a:endParaRPr sz="1800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内存泄漏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最后一个可用引用丢失前未释放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长时间重复发生会积累占用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明确谁负责释放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同时覆盖错误退出路径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访问越界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 个元素的合法下标为 0 至 3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访问 p[4] 超出范围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把元素数量与指针一起传递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在使用处检查边界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8105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未初始化读取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malloc 只提供空间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不能假定内容已经为 0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先写入有效值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需要按字节清零时可选 calloc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越界和未初始化读取可能导致未定义行为，不能依靠某次运行结果判断正确性"/>
          <p:cNvSpPr>
            <a:spLocks noGrp="1"/>
          </p:cNvSpPr>
          <p:nvPr/>
        </p:nvSpPr>
        <p:spPr>
          <a:xfrm>
            <a:off x="609600" y="56864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越界和未初始化读取可能导致未定义行为，不能依靠某次运行结果判断正确性。</a:t>
            </a:r>
            <a:endParaRPr sz="18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3 用法与注意事项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用法与注意事项</a:t>
            </a:r>
            <a:endParaRPr sz="142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常见错误：释放后使用与重复释放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常见错误：释放后使用与重复释放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8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18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假设 p 是成功分配后尚未释放的有效指针。"/>
          <p:cNvSpPr>
            <a:spLocks noGrp="1"/>
          </p:cNvSpPr>
          <p:nvPr/>
        </p:nvSpPr>
        <p:spPr>
          <a:xfrm>
            <a:off x="609600" y="1581150"/>
            <a:ext cx="10763250" cy="2952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假设 p 是成功分配后尚未释放的有效指针。</a:t>
            </a:r>
            <a:endParaRPr sz="1725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字底色"/>
          <p:cNvSpPr>
            <a:spLocks noGrp="1"/>
          </p:cNvSpPr>
          <p:nvPr/>
        </p:nvSpPr>
        <p:spPr>
          <a:xfrm>
            <a:off x="609600" y="1933575"/>
            <a:ext cx="5095875" cy="2438400"/>
          </a:xfrm>
          <a:prstGeom prst="rect">
            <a:avLst/>
          </a:prstGeom>
          <a:solidFill>
            <a:srgbClr val="FBEEE6"/>
          </a:solidFill>
          <a:ln w="0">
            <a:noFill/>
          </a:ln>
        </p:spPr>
      </p:sp>
      <p:sp>
        <p:nvSpPr>
          <p:cNvPr id="9" name="错误片段：释放后继续访问"/>
          <p:cNvSpPr>
            <a:spLocks noGrp="1"/>
          </p:cNvSpPr>
          <p:nvPr/>
        </p:nvSpPr>
        <p:spPr>
          <a:xfrm>
            <a:off x="800100" y="2085975"/>
            <a:ext cx="466725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错误片段：释放后继续访问</a:t>
            </a:r>
            <a:endParaRPr sz="202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free(p);"/>
          <p:cNvSpPr>
            <a:spLocks noGrp="1"/>
          </p:cNvSpPr>
          <p:nvPr/>
        </p:nvSpPr>
        <p:spPr>
          <a:xfrm>
            <a:off x="800100" y="2724150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free(p);</a:t>
            </a:r>
            <a:endParaRPr sz="20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1" name="printf(&quot;%d\n&quot;, p[0]);"/>
          <p:cNvSpPr>
            <a:spLocks noGrp="1"/>
          </p:cNvSpPr>
          <p:nvPr/>
        </p:nvSpPr>
        <p:spPr>
          <a:xfrm>
            <a:off x="800100" y="3181350"/>
            <a:ext cx="4667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0">
                <a:solidFill>
                  <a:srgbClr val="172641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printf("%d\n", p[0]);</a:t>
            </a:r>
            <a:endParaRPr sz="2025" b="0">
              <a:solidFill>
                <a:srgbClr val="172641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2" name="文字底色"/>
          <p:cNvSpPr>
            <a:spLocks noGrp="1"/>
          </p:cNvSpPr>
          <p:nvPr/>
        </p:nvSpPr>
        <p:spPr>
          <a:xfrm>
            <a:off x="5981700" y="1933575"/>
            <a:ext cx="5600700" cy="2438400"/>
          </a:xfrm>
          <a:prstGeom prst="rect">
            <a:avLst/>
          </a:prstGeom>
          <a:solidFill>
            <a:srgbClr val="F0EDFA"/>
          </a:solidFill>
          <a:ln w="0">
            <a:noFill/>
          </a:ln>
        </p:spPr>
      </p:sp>
      <p:sp>
        <p:nvSpPr>
          <p:cNvPr id="13" name="错误片段：同一对象释放两次"/>
          <p:cNvSpPr>
            <a:spLocks noGrp="1"/>
          </p:cNvSpPr>
          <p:nvPr/>
        </p:nvSpPr>
        <p:spPr>
          <a:xfrm>
            <a:off x="6172200" y="2085975"/>
            <a:ext cx="51435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错误片段：同一对象释放两次</a:t>
            </a:r>
            <a:endParaRPr sz="202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free(p);"/>
          <p:cNvSpPr>
            <a:spLocks noGrp="1"/>
          </p:cNvSpPr>
          <p:nvPr/>
        </p:nvSpPr>
        <p:spPr>
          <a:xfrm>
            <a:off x="6172200" y="2724150"/>
            <a:ext cx="50958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free(p);</a:t>
            </a:r>
            <a:endParaRPr sz="20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5" name="free(p);"/>
          <p:cNvSpPr>
            <a:spLocks noGrp="1"/>
          </p:cNvSpPr>
          <p:nvPr/>
        </p:nvSpPr>
        <p:spPr>
          <a:xfrm>
            <a:off x="6172200" y="3181350"/>
            <a:ext cx="50958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defPPr>
            <a:lvl1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1pPr>
            <a:lvl2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2pPr>
            <a:lvl3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3pPr>
            <a:lvl4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4pPr>
            <a:lvl5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5pPr>
            <a:lvl6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6pPr>
            <a:lvl7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7pPr>
            <a:lvl8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8pPr>
            <a:lvl9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lvl9pPr>
          </a:lstStyle>
          <a:p>
            <a:pPr algn="l">
              <a:def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defRPr>
            </a:pPr>
            <a:r>
              <a:rPr sz="2025" b="1">
                <a:solidFill>
                  <a:srgbClr val="DA704B"/>
                </a:solidFill>
                <a:latin typeface="Consolas" panose="020B0609020204030204"/>
                <a:ea typeface="Consolas" panose="020B0609020204030204"/>
                <a:cs typeface="Consolas" panose="020B0609020204030204"/>
              </a:rPr>
              <a:t>free(p);</a:t>
            </a:r>
            <a:endParaRPr sz="2025" b="1">
              <a:solidFill>
                <a:srgbClr val="DA704B"/>
              </a:solidFill>
              <a:latin typeface="Consolas" panose="020B0609020204030204"/>
              <a:ea typeface="Consolas" panose="020B0609020204030204"/>
              <a:cs typeface="Consolas" panose="020B0609020204030204"/>
            </a:endParaRPr>
          </a:p>
        </p:txBody>
      </p:sp>
      <p:sp>
        <p:nvSpPr>
          <p:cNvPr id="16" name="两种操作都属于未定义行为，可能表现为崩溃、数据损坏或暂时没有明显异常"/>
          <p:cNvSpPr>
            <a:spLocks noGrp="1"/>
          </p:cNvSpPr>
          <p:nvPr/>
        </p:nvSpPr>
        <p:spPr>
          <a:xfrm>
            <a:off x="609600" y="4772025"/>
            <a:ext cx="10858500" cy="695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两种操作都属于未定义行为，可能表现为崩溃、数据损坏或暂时没有明显异常。</a:t>
            </a:r>
            <a:endParaRPr sz="202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p = NULL 只改变变量 p，其他指向同一对象的别名指针仍需处理"/>
          <p:cNvSpPr>
            <a:spLocks noGrp="1"/>
          </p:cNvSpPr>
          <p:nvPr/>
        </p:nvSpPr>
        <p:spPr>
          <a:xfrm>
            <a:off x="609600" y="5686425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= NULL 只改变变量 p，其他指向同一对象的别名指针仍需处理。</a:t>
            </a:r>
            <a:endParaRPr sz="1800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03 用法与注意事项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用法与注意事项</a:t>
            </a:r>
            <a:endParaRPr sz="142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嵌入式 Linux 中的使用取舍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中的使用取舍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19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09600" y="1924050"/>
          <a:ext cx="10972800" cy="3095625"/>
        </p:xfrm>
        <a:graphic>
          <a:graphicData uri="http://schemas.openxmlformats.org/drawingml/2006/table">
            <a:tbl>
              <a:tblPr/>
              <a:tblGrid>
                <a:gridCol w="3352800"/>
                <a:gridCol w="76200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使用情形</a:t>
                      </a:r>
                      <a:endParaRPr sz="1800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设计时可考虑什么</a:t>
                      </a:r>
                      <a:endParaRPr sz="1800" b="1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T w="9525">
                      <a:solidFill>
                        <a:srgbClr val="D9DFE9"/>
                      </a:solidFill>
                      <a:prstDash val="solid"/>
                    </a:lnT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BEEE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启动时规模已知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集中分配并检查失败，避免运行中反复申请同类对象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数据长度随输入变化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动态申请或扩容，并限制输入大小与总内存预算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关键路径要求可预测时延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优先评估预分配或有明确时延保证的方案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长期运行服务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L w="9525">
                      <a:solidFill>
                        <a:srgbClr val="D9DFE9"/>
                      </a:solidFill>
                      <a:prstDash val="solid"/>
                    </a:lnL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7264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明确对象所有权，检查错误路径中的释放，关注峰值占用</a:t>
                      </a:r>
                      <a:endParaRPr sz="1800">
                        <a:solidFill>
                          <a:srgbClr val="17264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42875" marR="142875" marT="114300" marB="114300" anchor="ctr">
                    <a:lnR w="9525">
                      <a:solidFill>
                        <a:srgbClr val="D9DFE9"/>
                      </a:solidFill>
                      <a:prstDash val="solid"/>
                    </a:lnR>
                    <a:lnB w="9525">
                      <a:solidFill>
                        <a:srgbClr val="D9DF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线程安全只说明并发调用的安全属性，不能据此认定调用耗时恒定。"/>
          <p:cNvSpPr>
            <a:spLocks noGrp="1"/>
          </p:cNvSpPr>
          <p:nvPr/>
        </p:nvSpPr>
        <p:spPr>
          <a:xfrm>
            <a:off x="609600" y="5400675"/>
            <a:ext cx="10858500" cy="628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线程安全只说明并发调用的安全属性，不能据此认定调用耗时恒定。</a:t>
            </a:r>
            <a:endParaRPr sz="202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归纳与选择"/>
          <p:cNvSpPr>
            <a:spLocks noGrp="1"/>
          </p:cNvSpPr>
          <p:nvPr/>
        </p:nvSpPr>
        <p:spPr>
          <a:xfrm>
            <a:off x="609600" y="400050"/>
            <a:ext cx="10287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归纳与选择</a:t>
            </a:r>
            <a:endParaRPr sz="142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malloc 的背景、机制与用法"/>
          <p:cNvSpPr>
            <a:spLocks noGrp="1"/>
          </p:cNvSpPr>
          <p:nvPr/>
        </p:nvSpPr>
        <p:spPr>
          <a:xfrm>
            <a:off x="609600" y="895350"/>
            <a:ext cx="108585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225" b="1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malloc 的背景、机制与用法</a:t>
            </a:r>
            <a:endParaRPr sz="3225" b="1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嵌入式 Linux 系统课程作业"/>
          <p:cNvSpPr>
            <a:spLocks noGrp="1"/>
          </p:cNvSpPr>
          <p:nvPr/>
        </p:nvSpPr>
        <p:spPr>
          <a:xfrm>
            <a:off x="609600" y="6515100"/>
            <a:ext cx="857250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嵌入式 Linux 系统课程作业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20 / 21"/>
          <p:cNvSpPr>
            <a:spLocks noGrp="1"/>
          </p:cNvSpPr>
          <p:nvPr/>
        </p:nvSpPr>
        <p:spPr>
          <a:xfrm>
            <a:off x="10753725" y="6515100"/>
            <a:ext cx="971550" cy="209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6372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 / 21</a:t>
            </a:r>
            <a:endParaRPr sz="1050" b="0">
              <a:solidFill>
                <a:srgbClr val="6372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背景"/>
          <p:cNvSpPr>
            <a:spLocks noGrp="1"/>
          </p:cNvSpPr>
          <p:nvPr/>
        </p:nvSpPr>
        <p:spPr>
          <a:xfrm>
            <a:off x="609600" y="2019300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</a:t>
            </a:r>
            <a:endParaRPr sz="2475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运行中的规模变化与生命周期需求，使动态分配成为必要工具。"/>
          <p:cNvSpPr>
            <a:spLocks noGrp="1"/>
          </p:cNvSpPr>
          <p:nvPr/>
        </p:nvSpPr>
        <p:spPr>
          <a:xfrm>
            <a:off x="2571750" y="2019300"/>
            <a:ext cx="885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运行中的规模变化与生命周期需求，使动态分配成为必要工具。</a:t>
            </a:r>
            <a:endParaRPr sz="21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机制"/>
          <p:cNvSpPr>
            <a:spLocks noGrp="1"/>
          </p:cNvSpPr>
          <p:nvPr/>
        </p:nvSpPr>
        <p:spPr>
          <a:xfrm>
            <a:off x="609600" y="3181350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008C7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机制</a:t>
            </a:r>
            <a:endParaRPr sz="2475" b="1">
              <a:solidFill>
                <a:srgbClr val="008C7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分配器管理和复用内存块，需要时借助内核扩展地址空间。"/>
          <p:cNvSpPr>
            <a:spLocks noGrp="1"/>
          </p:cNvSpPr>
          <p:nvPr/>
        </p:nvSpPr>
        <p:spPr>
          <a:xfrm>
            <a:off x="2571750" y="3181350"/>
            <a:ext cx="885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分配器管理和复用内存块，需要时借助内核扩展地址空间。</a:t>
            </a:r>
            <a:endParaRPr sz="21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用法"/>
          <p:cNvSpPr>
            <a:spLocks noGrp="1"/>
          </p:cNvSpPr>
          <p:nvPr/>
        </p:nvSpPr>
        <p:spPr>
          <a:xfrm>
            <a:off x="609600" y="4343400"/>
            <a:ext cx="17145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475" b="1">
                <a:solidFill>
                  <a:srgbClr val="DA704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用法</a:t>
            </a:r>
            <a:endParaRPr sz="2475" b="1">
              <a:solidFill>
                <a:srgbClr val="DA704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计算大小、检查失败、初始化后使用，并在使用结束后释放。"/>
          <p:cNvSpPr>
            <a:spLocks noGrp="1"/>
          </p:cNvSpPr>
          <p:nvPr/>
        </p:nvSpPr>
        <p:spPr>
          <a:xfrm>
            <a:off x="2571750" y="4343400"/>
            <a:ext cx="8858250" cy="819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0">
                <a:solidFill>
                  <a:srgbClr val="1726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计算大小、检查失败、初始化后使用，并在使用结束后释放。</a:t>
            </a:r>
            <a:endParaRPr sz="2175" b="0">
              <a:solidFill>
                <a:srgbClr val="1726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管理好一块内存，既要理解接口语义，也要明确每个对象由谁负责。"/>
          <p:cNvSpPr>
            <a:spLocks noGrp="1"/>
          </p:cNvSpPr>
          <p:nvPr/>
        </p:nvSpPr>
        <p:spPr>
          <a:xfrm>
            <a:off x="609600" y="5753100"/>
            <a:ext cx="109728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l">
              <a:def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6655C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管理好一块内存，既要理解接口语义，也要明确每个对象由谁负责。</a:t>
            </a:r>
            <a:endParaRPr sz="1800" b="1">
              <a:solidFill>
                <a:srgbClr val="6655C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/>
      </p:grpSpPr>
      <p:pic>
        <p:nvPicPr>
          <p:cNvPr id="2" name="图片 1">
            <a:extLst>
              <a:ext uri="{FF2B5EF4-FFF2-40B4-BE49-F238E27FC236}">
                <ns2:creationId id="{21B977E7-A372-4104-9F96-550054B14BA2}"/>
              </a:ext>
            </a:extLst>
          </p:cNvPr>
          <p:cNvPicPr>
            <a:picLocks noChangeAspect="1"/>
          </p:cNvPicPr>
          <p:nvPr/>
        </p:nvPicPr>
        <p:blipFill>
          <a:blip r:embed="R7c68587c102e46d8"/>
          <a:srcRect l="0" t="27" r="0" b="27"/>
          <a:stretch>
            <a:fillRect l="0" t="0" r="0" b="0"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谢谢观看">
            <a:extLst>
              <a:ext uri="{FF2B5EF4-FFF2-40B4-BE49-F238E27FC236}">
                <ns2:creationId id="{0B42D6CE-45D2-4431-A261-4870639CE1EE}"/>
              </a:ext>
            </a:extLst>
          </p:cNvPr>
          <p:cNvSpPr>
            <a:spLocks noGrp="1"/>
          </p:cNvSpPr>
          <p:nvPr/>
        </p:nvSpPr>
        <p:spPr>
          <a:xfrm>
            <a:off x="704850" y="2914650"/>
            <a:ext cx="6477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 algn="l"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defPPr>
            <a:lvl1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2pPr>
            <a:lvl3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3pPr>
            <a:lvl4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4pPr>
            <a:lvl5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5pPr>
            <a:lvl6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6pPr>
            <a:lvl7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7pPr>
            <a:lvl8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8pPr>
            <a:lvl9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 algn="l">
              <a:buNone/>
              <a:def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defRPr>
            </a:pPr>
            <a:r>
              <a: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sz="5700" b="1">
                <a:solidFill>
                  <a:srgbClr val="172641"/>
                </a:solidFill>
                <a:latin typeface="微软雅黑"/>
                <a:ea typeface="微软雅黑"/>
                <a:cs typeface="微软雅黑"/>
              </a:rPr>
              <a:t>谢谢观看</a:t>
            </a:r>
            <a:endParaRPr sz="5700" b="1">
              <a:solidFill>
                <a:srgbClr val="17264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url-label-0">
            <a:extLst>
              <a:ext uri="{FF2B5EF4-FFF2-40B4-BE49-F238E27FC236}">
                <ns2:creationId id="{0CB3A6FB-42E9-4A56-8121-E52788A65B0B}"/>
              </a:ext>
            </a:extLst>
          </p:cNvPr>
          <p:cNvSpPr>
            <a:spLocks noGrp="1"/>
          </p:cNvSpPr>
          <p:nvPr/>
        </p:nvSpPr>
        <p:spPr>
          <a:xfrm>
            <a:off x="1390650" y="4095750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原理视频</a:t>
            </a:r>
          </a:p>
        </p:txBody>
      </p:sp>
      <p:sp>
        <p:nvSpPr>
          <p:cNvPr id="5" name="link-video">
            <a:extLst>
              <a:ext uri="{FF2B5EF4-FFF2-40B4-BE49-F238E27FC236}">
                <ns2:creationId id="{7499A268-784D-42CA-9B9E-E797909D722B}"/>
              </a:ext>
            </a:extLst>
            <a:hlinkClick r:id="submissionLink4"/>
          </p:cNvPr>
          <p:cNvSpPr>
            <a:spLocks noGrp="1"/>
          </p:cNvSpPr>
          <p:nvPr/>
        </p:nvSpPr>
        <p:spPr>
          <a:xfrm>
            <a:off x="1390650" y="4371975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defPPr>
            <a:lvl1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1pPr>
            <a:lvl2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2pPr>
            <a:lvl3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3pPr>
            <a:lvl4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4pPr>
            <a:lvl5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5pPr>
            <a:lvl6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6pPr>
            <a:lvl7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7pPr>
            <a:lvl8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8pPr>
            <a:lvl9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388" b="0">
                <a:solidFill>
                  <a:srgbClr val="008C7D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008C7D"/>
                </a:solidFill>
                <a:latin typeface="Consolas"/>
                <a:ea typeface="Consolas"/>
                <a:cs typeface="Consolas"/>
                <a:hlinkClick r:id="submissionLink4"/>
              </a:rPr>
              <a:t>https://mwhmwhyyds-eng.github.io/malloc-memory-lab/watch.html</a:t>
            </a:r>
          </a:p>
        </p:txBody>
      </p:sp>
      <p:sp>
        <p:nvSpPr>
          <p:cNvPr id="6" name="url-label-1">
            <a:extLst>
              <a:ext uri="{FF2B5EF4-FFF2-40B4-BE49-F238E27FC236}">
                <ns2:creationId id="{9120CC93-82C4-40C5-BBBA-C00CCAEF6790}"/>
              </a:ext>
            </a:extLst>
          </p:cNvPr>
          <p:cNvSpPr>
            <a:spLocks noGrp="1"/>
          </p:cNvSpPr>
          <p:nvPr/>
        </p:nvSpPr>
        <p:spPr>
          <a:xfrm>
            <a:off x="1390650" y="4762500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交互案例</a:t>
            </a:r>
          </a:p>
        </p:txBody>
      </p:sp>
      <p:sp>
        <p:nvSpPr>
          <p:cNvPr id="7" name="link-lab">
            <a:extLst>
              <a:ext uri="{FF2B5EF4-FFF2-40B4-BE49-F238E27FC236}">
                <ns2:creationId id="{CFE027C7-237D-4D78-996A-AD095D1EEC5E}"/>
              </a:ext>
            </a:extLst>
            <a:hlinkClick r:id="submissionLink5"/>
          </p:cNvPr>
          <p:cNvSpPr>
            <a:spLocks noGrp="1"/>
          </p:cNvSpPr>
          <p:nvPr/>
        </p:nvSpPr>
        <p:spPr>
          <a:xfrm>
            <a:off x="1390650" y="5038725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defPPr>
            <a:lvl1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1pPr>
            <a:lvl2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2pPr>
            <a:lvl3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3pPr>
            <a:lvl4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4pPr>
            <a:lvl5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5pPr>
            <a:lvl6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6pPr>
            <a:lvl7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7pPr>
            <a:lvl8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8pPr>
            <a:lvl9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388" b="0">
                <a:solidFill>
                  <a:srgbClr val="6655CF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6655CF"/>
                </a:solidFill>
                <a:latin typeface="Consolas"/>
                <a:ea typeface="Consolas"/>
                <a:cs typeface="Consolas"/>
                <a:hlinkClick r:id="submissionLink5"/>
              </a:rPr>
              <a:t>https://mwhmwhyyds-eng.github.io/malloc-memory-lab/lab.html</a:t>
            </a:r>
          </a:p>
        </p:txBody>
      </p:sp>
      <p:sp>
        <p:nvSpPr>
          <p:cNvPr id="8" name="url-label-2">
            <a:extLst>
              <a:ext uri="{FF2B5EF4-FFF2-40B4-BE49-F238E27FC236}">
                <ns2:creationId id="{D2A6821C-AF94-4C46-888A-5EA113461AFB}"/>
              </a:ext>
            </a:extLst>
          </p:cNvPr>
          <p:cNvSpPr>
            <a:spLocks noGrp="1"/>
          </p:cNvSpPr>
          <p:nvPr/>
        </p:nvSpPr>
        <p:spPr>
          <a:xfrm>
            <a:off x="1390650" y="5429250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defPPr>
            <a:lvl1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1pPr>
            <a:lvl2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2pPr>
            <a:lvl3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3pPr>
            <a:lvl4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4pPr>
            <a:lvl5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5pPr>
            <a:lvl6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6pPr>
            <a:lvl7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7pPr>
            <a:lvl8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8pPr>
            <a:lvl9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lvl9pPr>
          </a:lstStyle>
          <a:p>
            <a:pPr>
              <a:def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63728A"/>
                </a:solidFill>
                <a:latin typeface="微软雅黑"/>
                <a:ea typeface="微软雅黑"/>
                <a:cs typeface="微软雅黑"/>
              </a:rPr>
              <a:t>GitHub 项目与源码</a:t>
            </a:r>
          </a:p>
        </p:txBody>
      </p:sp>
      <p:sp>
        <p:nvSpPr>
          <p:cNvPr id="9" name="link-source">
            <a:extLst>
              <a:ext uri="{FF2B5EF4-FFF2-40B4-BE49-F238E27FC236}">
                <ns2:creationId id="{BDBD8C9C-D08D-4372-88B3-87C33C1E079F}"/>
              </a:ext>
            </a:extLst>
            <a:hlinkClick r:id="submissionLink6"/>
          </p:cNvPr>
          <p:cNvSpPr>
            <a:spLocks noGrp="1"/>
          </p:cNvSpPr>
          <p:nvPr/>
        </p:nvSpPr>
        <p:spPr>
          <a:xfrm>
            <a:off x="1390650" y="5705475"/>
            <a:ext cx="6286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def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defPPr>
            <a:lvl1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1pPr>
            <a:lvl2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2pPr>
            <a:lvl3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3pPr>
            <a:lvl4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4pPr>
            <a:lvl5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5pPr>
            <a:lvl6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6pPr>
            <a:lvl7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7pPr>
            <a:lvl8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8pPr>
            <a:lvl9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lvl9pPr>
          </a:lstStyle>
          <a:p>
            <a:pPr>
              <a:defRPr sz="1388" b="0">
                <a:solidFill>
                  <a:srgbClr val="172641"/>
                </a:solidFill>
                <a:latin typeface="Consolas"/>
                <a:ea typeface="Consolas"/>
                <a:cs typeface="Consolas"/>
              </a:defRPr>
            </a:pPr>
            <a:r>
              <a:rPr sz="1388" b="0">
                <a:solidFill>
                  <a:srgbClr val="172641"/>
                </a:solidFill>
                <a:latin typeface="Consolas"/>
                <a:ea typeface="Consolas"/>
                <a:cs typeface="Consolas"/>
                <a:hlinkClick r:id="submissionLink6"/>
              </a:rPr>
              <a:t>https://github.com/mwhmwhyyds-eng/malloc-memory-lab</a:t>
            </a:r>
          </a:p>
        </p:txBody>
      </p:sp>
    </p:spTree>
    <p:extLst>
      <p:ext uri="{BB962C8B-B14F-4D97-AF65-F5344CB8AC3E}">
        <ns4:creationId val="3228317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4340</Words>
  <Application>WPS 演示</Application>
  <PresentationFormat>Converted Presentation</PresentationFormat>
  <Paragraphs>713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Consolas</vt:lpstr>
      <vt:lpstr>Arial Unicode MS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查子凌</cp:lastModifiedBy>
  <cp:revision>1</cp:revision>
  <dcterms:created xsi:type="dcterms:W3CDTF">2026-10-22T12:22:20Z</dcterms:created>
  <dcterms:modified xsi:type="dcterms:W3CDTF">2026-10-22T12:22:20Z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AD44591C86CE4DE291B366ADEA7D571B_12</vt:lpwstr>
  </property>
  <property fmtid="{D5CDD505-2E9C-101B-9397-08002B2CF9AE}" pid="3" name="KSOProductBuildVer">
    <vt:lpwstr>2052-12.1.0.28505</vt:lpwstr>
  </property>
</Properties>
</file>